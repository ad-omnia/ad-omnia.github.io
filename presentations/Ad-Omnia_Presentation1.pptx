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73" r:id="rId2"/>
    <p:sldId id="259" r:id="rId3"/>
    <p:sldId id="261" r:id="rId4"/>
    <p:sldId id="266" r:id="rId5"/>
    <p:sldId id="274" r:id="rId6"/>
    <p:sldId id="270" r:id="rId7"/>
    <p:sldId id="275" r:id="rId8"/>
    <p:sldId id="271" r:id="rId9"/>
    <p:sldId id="272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5F66"/>
    <a:srgbClr val="050506"/>
    <a:srgbClr val="60A5FA"/>
    <a:srgbClr val="A855F7"/>
    <a:srgbClr val="0E9E86"/>
    <a:srgbClr val="5EEA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26AF0-B760-42A7-BB26-D9D544D0090A}" v="8" dt="2026-09-28T18:31:34.606"/>
    <p1510:client id="{0A86713C-4E8B-C7F8-D687-14644AE837B2}" v="82" dt="2026-09-27T22:05:54.130"/>
    <p1510:client id="{0A8E3D35-7348-ECA8-40C2-AB0972AF76BC}" v="57" dt="2026-09-28T18:16:27.734"/>
    <p1510:client id="{12DA59B6-78F6-6909-FB50-E9173C329AC3}" v="9" dt="2026-09-28T17:27:36.078"/>
    <p1510:client id="{4C070341-F07D-6B55-5DEA-C8FFEC76E4C0}" v="4" dt="2026-09-28T12:41:47.445"/>
    <p1510:client id="{6A708526-AEB8-4740-8A75-56AA599FE4E9}" v="22" dt="2026-09-29T10:31:52.387"/>
    <p1510:client id="{6A76A19D-3611-F35E-77A1-66577DE4855F}" v="9" dt="2026-09-28T17:46:59.427"/>
    <p1510:client id="{7FD79531-F0DD-DA53-F27B-D55CB6E49DC1}" v="2" dt="2026-09-28T09:13:12.817"/>
    <p1510:client id="{CCDEE79E-5A99-61CE-41F4-1AB943E872DD}" v="4" dt="2026-09-27T18:43:36.795"/>
    <p1510:client id="{D080D8B1-9702-1F0B-FBA8-71EC7653E432}" v="78" dt="2026-09-28T10:49:31.027"/>
    <p1510:client id="{F0714905-DDD6-2C94-6115-00B65AB91F7C}" v="2" dt="2026-09-28T13:01:58.85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em Estilo, Sem Grelh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F887C-38FA-C6BC-4091-113C146CD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8A25B-2ACE-2A10-069B-758EC2D7E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DC8C9-D4C4-9548-539E-657B5726F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1988F-E8C8-0B24-9B61-E3589EBCA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2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20000"/>
              </a:spcBef>
              <a:spcAft>
                <a:spcPts val="800"/>
              </a:spcAft>
            </a:pPr>
            <a:r>
              <a:rPr lang="en-US">
                <a:solidFill>
                  <a:srgbClr val="161616"/>
                </a:solidFill>
              </a:rPr>
              <a:t>In emergency situations and large-scale event management, Portuguese emergency and security agencies, such as Civil Protection, INEM, security forces, etc., operate using data scattered across multiple sources and proprietary systems (cartography, historical records, real-time feeds, ...) without a unified and up-to-date view of the situation.</a:t>
            </a:r>
            <a:endParaRPr lang="en-US"/>
          </a:p>
          <a:p>
            <a:pPr>
              <a:spcBef>
                <a:spcPct val="20000"/>
              </a:spcBef>
              <a:spcAft>
                <a:spcPts val="800"/>
              </a:spcAft>
            </a:pPr>
            <a:r>
              <a:rPr lang="en-US">
                <a:solidFill>
                  <a:srgbClr val="161616"/>
                </a:solidFill>
              </a:rPr>
              <a:t>This fragmentation hinders inter-agency coordination and delays decision-making in critical scenarios, where every minute counts.</a:t>
            </a:r>
            <a:endParaRPr lang="en-US"/>
          </a:p>
          <a:p>
            <a:pPr>
              <a:spcBef>
                <a:spcPct val="20000"/>
              </a:spcBef>
              <a:spcAft>
                <a:spcPts val="800"/>
              </a:spcAft>
            </a:pPr>
            <a:r>
              <a:rPr lang="en-US">
                <a:solidFill>
                  <a:srgbClr val="161616"/>
                </a:solidFill>
              </a:rPr>
              <a:t>This same lack of information can also impact citizens, who are left without essential information during a crisis.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38EA8-C12C-B154-7A02-C834EAA91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725FB-1120-A300-1C0D-85940BABB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657C2-379B-1E34-0DE0-CD4AAE880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86FE9-7656-53A8-D741-531B668D8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45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35C6B-470D-B00E-586E-856DF186B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48070-D1EC-D2B1-3F61-80274008B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6AB7C-391F-FA59-237B-06728FFEF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5017F-B2B1-EFF3-AB61-EA298514A8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57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94371-4282-35B0-3183-C02457300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AEC1B-3A60-5262-A893-2F3BB053E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6068E-5E8B-2A35-E3FD-F7F8C67C7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E0D58-0AE3-7BB3-AAE9-4BB4D00EE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85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35BBF-DB90-B522-E5BB-40DE42C43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0B10B-8736-25DE-8923-AA2355668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AA371-68CA-E0A5-44D1-E1D8BBAD7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9CD19-AB7D-BBBD-3856-98342E9099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64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161616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Animated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192024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44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4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361188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20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0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itle (lower to upp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/assets/logo-light-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461772"/>
            <a:ext cx="1042416" cy="1088776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1737360"/>
            <a:ext cx="5577840" cy="21945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4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48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85800" y="4114800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20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0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0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5623560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spcAft>
                <a:spcPts val="800"/>
              </a:spcAft>
              <a:buNone/>
              <a:defRPr lang="en-US" sz="14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4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itle (upper to low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/assets/logo-light-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461772"/>
            <a:ext cx="1042416" cy="1088776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1737360"/>
            <a:ext cx="5577840" cy="21945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4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48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85800" y="4114800"/>
            <a:ext cx="55778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20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0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0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5623560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spcAft>
                <a:spcPts val="800"/>
              </a:spcAft>
              <a:buNone/>
              <a:defRPr lang="en-US" sz="14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4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4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Section (lower to upp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990118" y="3287183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>
              <a:spcAft>
                <a:spcPts val="800"/>
              </a:spcAft>
              <a:buNone/>
              <a:defRPr lang="en-US" sz="9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ctr">
              <a:spcAft>
                <a:spcPts val="800"/>
              </a:spcAft>
              <a:buNone/>
            </a:pPr>
            <a:r>
              <a:rPr lang="en-US" sz="9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60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754880" y="2011680"/>
            <a:ext cx="6766560" cy="17373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44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44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754880" y="3931920"/>
            <a:ext cx="676656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20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0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000"/>
          </a:p>
        </p:txBody>
      </p:sp>
      <p:pic>
        <p:nvPicPr>
          <p:cNvPr id="5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Section (upper to low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990118" y="1742017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>
              <a:spcAft>
                <a:spcPts val="800"/>
              </a:spcAft>
              <a:buNone/>
              <a:defRPr lang="en-US" sz="9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ctr">
              <a:spcAft>
                <a:spcPts val="800"/>
              </a:spcAft>
              <a:buNone/>
            </a:pPr>
            <a:r>
              <a:rPr lang="en-US" sz="9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60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754880" y="2011680"/>
            <a:ext cx="6766560" cy="173736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44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44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754880" y="3931920"/>
            <a:ext cx="676656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20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0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000"/>
          </a:p>
        </p:txBody>
      </p:sp>
      <p:pic>
        <p:nvPicPr>
          <p:cNvPr id="5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itle and Content (lower to upp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1645920"/>
            <a:ext cx="10820095" cy="429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pic>
        <p:nvPicPr>
          <p:cNvPr id="4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itle and Content (upper to low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1645920"/>
            <a:ext cx="10820095" cy="429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pic>
        <p:nvPicPr>
          <p:cNvPr id="4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wo Columns (lower to upp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1645920"/>
            <a:ext cx="5181448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spcAft>
                <a:spcPts val="800"/>
              </a:spcAft>
              <a:buNone/>
              <a:defRPr lang="en-US" sz="2200" b="1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200" b="1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85800" y="2240280"/>
            <a:ext cx="5181448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324448" y="1645920"/>
            <a:ext cx="5181448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spcAft>
                <a:spcPts val="800"/>
              </a:spcAft>
              <a:buNone/>
              <a:defRPr lang="en-US" sz="2200" b="1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200" b="1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20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324448" y="2240280"/>
            <a:ext cx="5181448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pic>
        <p:nvPicPr>
          <p:cNvPr id="7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wo Columns (upper to low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1645920"/>
            <a:ext cx="5181448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spcAft>
                <a:spcPts val="800"/>
              </a:spcAft>
              <a:buNone/>
              <a:defRPr lang="en-US" sz="2200" b="1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200" b="1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85800" y="2240280"/>
            <a:ext cx="5181448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324448" y="1645920"/>
            <a:ext cx="5181448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spcAft>
                <a:spcPts val="800"/>
              </a:spcAft>
              <a:buNone/>
              <a:defRPr lang="en-US" sz="2200" b="1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200" b="1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20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324448" y="2240280"/>
            <a:ext cx="5181448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pic>
        <p:nvPicPr>
          <p:cNvPr id="7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Image and Text (lower to upp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2296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2468880"/>
            <a:ext cx="49377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sp>
        <p:nvSpPr>
          <p:cNvPr id="4" name="Text 0"/>
          <p:cNvSpPr>
            <a:spLocks noGrp="1"/>
          </p:cNvSpPr>
          <p:nvPr>
            <p:ph idx="102" hasCustomPrompt="1"/>
          </p:nvPr>
        </p:nvSpPr>
        <p:spPr>
          <a:xfrm>
            <a:off x="5989320" y="1097280"/>
            <a:ext cx="475488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6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6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picture, chart or table</a:t>
            </a:r>
            <a:endParaRPr lang="en-US" sz="1600"/>
          </a:p>
        </p:txBody>
      </p:sp>
      <p:pic>
        <p:nvPicPr>
          <p:cNvPr id="5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Image and Text (upper to low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82296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2468880"/>
            <a:ext cx="49377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sp>
        <p:nvSpPr>
          <p:cNvPr id="4" name="Text 0"/>
          <p:cNvSpPr>
            <a:spLocks noGrp="1"/>
          </p:cNvSpPr>
          <p:nvPr>
            <p:ph idx="102" hasCustomPrompt="1"/>
          </p:nvPr>
        </p:nvSpPr>
        <p:spPr>
          <a:xfrm>
            <a:off x="5989320" y="1097280"/>
            <a:ext cx="475488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6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6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picture, chart or table</a:t>
            </a:r>
            <a:endParaRPr lang="en-US" sz="1600"/>
          </a:p>
        </p:txBody>
      </p:sp>
      <p:pic>
        <p:nvPicPr>
          <p:cNvPr id="5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Figure and Caption (lower to upp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2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685800" y="1691640"/>
            <a:ext cx="10820095" cy="3931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6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6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chart, picture or table</a:t>
            </a:r>
            <a:endParaRPr lang="en-US" sz="16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85800" y="5715000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2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2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200"/>
          </a:p>
        </p:txBody>
      </p:sp>
      <p:pic>
        <p:nvPicPr>
          <p:cNvPr id="5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Figure and Caption (upper to low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2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685800" y="1691640"/>
            <a:ext cx="10820095" cy="3931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6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6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chart, picture or table</a:t>
            </a:r>
            <a:endParaRPr lang="en-US" sz="16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85800" y="5715000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2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2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200"/>
          </a:p>
        </p:txBody>
      </p:sp>
      <p:pic>
        <p:nvPicPr>
          <p:cNvPr id="5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itle Only (lower to upp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pic>
        <p:nvPicPr>
          <p:cNvPr id="3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itle Only (upper to low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pic>
        <p:nvPicPr>
          <p:cNvPr id="3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itle and Content (corner, top righ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1645920"/>
            <a:ext cx="9144000" cy="4297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pic>
        <p:nvPicPr>
          <p:cNvPr id="4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wo Columns (corner, top righ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16459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spcAft>
                <a:spcPts val="800"/>
              </a:spcAft>
              <a:buNone/>
              <a:defRPr lang="en-US" sz="2200" b="1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200" b="1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85800" y="2240280"/>
            <a:ext cx="438912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40680" y="16459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spcAft>
                <a:spcPts val="800"/>
              </a:spcAft>
              <a:buNone/>
              <a:defRPr lang="en-US" sz="2200" b="1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200" b="1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20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5440680" y="2240280"/>
            <a:ext cx="4389120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pic>
        <p:nvPicPr>
          <p:cNvPr id="7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itle Only (corner, top righ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pic>
        <p:nvPicPr>
          <p:cNvPr id="3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itle and Content (corner, bottom lef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1645920"/>
            <a:ext cx="10820095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pic>
        <p:nvPicPr>
          <p:cNvPr id="4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wo Columns (corner, bottom lef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85800" y="1645920"/>
            <a:ext cx="5181448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spcAft>
                <a:spcPts val="800"/>
              </a:spcAft>
              <a:buNone/>
              <a:defRPr lang="en-US" sz="2200" b="1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200" b="1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85800" y="2240280"/>
            <a:ext cx="5181448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324448" y="1645920"/>
            <a:ext cx="5181448" cy="4572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spcAft>
                <a:spcPts val="800"/>
              </a:spcAft>
              <a:buNone/>
              <a:defRPr lang="en-US" sz="2200" b="1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200" b="1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20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324448" y="2240280"/>
            <a:ext cx="5181448" cy="3703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1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1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800"/>
          </a:p>
        </p:txBody>
      </p:sp>
      <p:pic>
        <p:nvPicPr>
          <p:cNvPr id="7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itle Only (corner, bottom lef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3600"/>
          </a:p>
        </p:txBody>
      </p:sp>
      <p:pic>
        <p:nvPicPr>
          <p:cNvPr id="3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Statement (lower to upp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2079664" y="2108200"/>
            <a:ext cx="2710180" cy="160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2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8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2079664" y="3873923"/>
            <a:ext cx="2710180" cy="615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ctr">
              <a:spcAft>
                <a:spcPts val="800"/>
              </a:spcAft>
              <a:buNone/>
              <a:defRPr lang="en-US" sz="14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ctr">
              <a:spcAft>
                <a:spcPts val="800"/>
              </a:spcAft>
              <a:buNone/>
            </a:pPr>
            <a:r>
              <a:rPr lang="en-US" sz="14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400"/>
          </a:p>
        </p:txBody>
      </p:sp>
      <p:pic>
        <p:nvPicPr>
          <p:cNvPr id="4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Statement (upper to lower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2079664" y="2696633"/>
            <a:ext cx="2710180" cy="160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28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8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8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2079664" y="4462357"/>
            <a:ext cx="2710180" cy="615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ctr">
              <a:spcAft>
                <a:spcPts val="800"/>
              </a:spcAft>
              <a:buNone/>
              <a:defRPr lang="en-US" sz="14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ctr">
              <a:spcAft>
                <a:spcPts val="800"/>
              </a:spcAft>
              <a:buNone/>
            </a:pPr>
            <a:r>
              <a:rPr lang="en-US" sz="14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1400"/>
          </a:p>
        </p:txBody>
      </p:sp>
      <p:pic>
        <p:nvPicPr>
          <p:cNvPr id="4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mplate/assets/logo-hero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1689100"/>
            <a:ext cx="3479800" cy="34798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192024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>
            <a:lvl1pPr marL="0" indent="0" algn="l">
              <a:buNone/>
              <a:defRPr lang="en-US" sz="44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title</a:t>
            </a:r>
            <a:endParaRPr lang="en-US" sz="44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85800" y="361188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spcAft>
                <a:spcPts val="800"/>
              </a:spcAft>
              <a:buNone/>
              <a:defRPr lang="en-US" sz="2000" dirty="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</a:lstStyle>
          <a:p>
            <a:pPr marL="0" indent="0" algn="l">
              <a:spcAft>
                <a:spcPts val="800"/>
              </a:spcAft>
              <a:buNone/>
            </a:pPr>
            <a:r>
              <a:rPr lang="en-US" sz="2000">
                <a:solidFill>
                  <a:srgbClr val="5C5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to add text</a:t>
            </a:r>
            <a:endParaRPr lang="en-US" sz="200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ns Tea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2743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 algn="l">
              <a:buNone/>
              <a:defRPr lang="en-US" sz="36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add title</a:t>
            </a:r>
            <a:endParaRPr lang="en-US" sz="3600"/>
          </a:p>
        </p:txBody>
      </p:sp>
      <p:sp>
        <p:nvSpPr>
          <p:cNvPr id="3" name="Text 0"/>
          <p:cNvSpPr>
            <a:spLocks noGrp="1"/>
          </p:cNvSpPr>
          <p:nvPr>
            <p:ph type="pic" idx="101" hasCustomPrompt="1"/>
          </p:nvPr>
        </p:nvSpPr>
        <p:spPr>
          <a:xfrm>
            <a:off x="889000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5913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5913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6" name="Text 0"/>
          <p:cNvSpPr>
            <a:spLocks noGrp="1"/>
          </p:cNvSpPr>
          <p:nvPr>
            <p:ph type="pic" idx="104" hasCustomPrompt="1"/>
          </p:nvPr>
        </p:nvSpPr>
        <p:spPr>
          <a:xfrm>
            <a:off x="3127375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2897505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8" name="Text 0"/>
          <p:cNvSpPr>
            <a:spLocks noGrp="1"/>
          </p:cNvSpPr>
          <p:nvPr>
            <p:ph type="body" idx="106" hasCustomPrompt="1"/>
          </p:nvPr>
        </p:nvSpPr>
        <p:spPr>
          <a:xfrm>
            <a:off x="2897505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9" name="Text 0"/>
          <p:cNvSpPr>
            <a:spLocks noGrp="1"/>
          </p:cNvSpPr>
          <p:nvPr>
            <p:ph type="pic" idx="107" hasCustomPrompt="1"/>
          </p:nvPr>
        </p:nvSpPr>
        <p:spPr>
          <a:xfrm>
            <a:off x="5365750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10" name="Text 0"/>
          <p:cNvSpPr>
            <a:spLocks noGrp="1"/>
          </p:cNvSpPr>
          <p:nvPr>
            <p:ph type="body" idx="108" hasCustomPrompt="1"/>
          </p:nvPr>
        </p:nvSpPr>
        <p:spPr>
          <a:xfrm>
            <a:off x="513588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11" name="Text 0"/>
          <p:cNvSpPr>
            <a:spLocks noGrp="1"/>
          </p:cNvSpPr>
          <p:nvPr>
            <p:ph type="body" idx="109" hasCustomPrompt="1"/>
          </p:nvPr>
        </p:nvSpPr>
        <p:spPr>
          <a:xfrm>
            <a:off x="513588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12" name="Text 0"/>
          <p:cNvSpPr>
            <a:spLocks noGrp="1"/>
          </p:cNvSpPr>
          <p:nvPr>
            <p:ph type="pic" idx="110" hasCustomPrompt="1"/>
          </p:nvPr>
        </p:nvSpPr>
        <p:spPr>
          <a:xfrm>
            <a:off x="7604125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13" name="Text 0"/>
          <p:cNvSpPr>
            <a:spLocks noGrp="1"/>
          </p:cNvSpPr>
          <p:nvPr>
            <p:ph type="body" idx="111" hasCustomPrompt="1"/>
          </p:nvPr>
        </p:nvSpPr>
        <p:spPr>
          <a:xfrm>
            <a:off x="7374255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14" name="Text 0"/>
          <p:cNvSpPr>
            <a:spLocks noGrp="1"/>
          </p:cNvSpPr>
          <p:nvPr>
            <p:ph type="body" idx="112" hasCustomPrompt="1"/>
          </p:nvPr>
        </p:nvSpPr>
        <p:spPr>
          <a:xfrm>
            <a:off x="7374255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sp>
        <p:nvSpPr>
          <p:cNvPr id="15" name="Text 0"/>
          <p:cNvSpPr>
            <a:spLocks noGrp="1"/>
          </p:cNvSpPr>
          <p:nvPr>
            <p:ph type="pic" idx="113" hasCustomPrompt="1"/>
          </p:nvPr>
        </p:nvSpPr>
        <p:spPr>
          <a:xfrm>
            <a:off x="9842500" y="2698750"/>
            <a:ext cx="1460500" cy="146050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>
              <a:buNone/>
              <a:defRPr lang="en-US" sz="12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/>
          </a:p>
        </p:txBody>
      </p:sp>
      <p:sp>
        <p:nvSpPr>
          <p:cNvPr id="16" name="Text 0"/>
          <p:cNvSpPr>
            <a:spLocks noGrp="1"/>
          </p:cNvSpPr>
          <p:nvPr>
            <p:ph type="body" idx="114" hasCustomPrompt="1"/>
          </p:nvPr>
        </p:nvSpPr>
        <p:spPr>
          <a:xfrm>
            <a:off x="961263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8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800" b="1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800"/>
          </a:p>
        </p:txBody>
      </p:sp>
      <p:sp>
        <p:nvSpPr>
          <p:cNvPr id="17" name="Text 0"/>
          <p:cNvSpPr>
            <a:spLocks noGrp="1"/>
          </p:cNvSpPr>
          <p:nvPr>
            <p:ph type="body" idx="115" hasCustomPrompt="1"/>
          </p:nvPr>
        </p:nvSpPr>
        <p:spPr>
          <a:xfrm>
            <a:off x="961263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ctr">
              <a:buNone/>
              <a:defRPr lang="en-US" sz="1400" dirty="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1400">
                <a:solidFill>
                  <a:srgbClr val="5C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/>
          </a:p>
        </p:txBody>
      </p:sp>
      <p:pic>
        <p:nvPicPr>
          <p:cNvPr id="18" name="Image 0" descr="/home/claude/template/assets/logo-light-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7859" y="5863681"/>
            <a:ext cx="557784" cy="5782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5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adomnia.inperpetuum@gmail.com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github.com/Ad-Omn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6BDA7-01B1-F579-78B4-1989CC23D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27079A-69BD-0DDA-AF83-75DBC0D3CCE2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685800" y="192024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r>
              <a:rPr lang="en-US">
                <a:latin typeface="Gill Sans MT"/>
                <a:ea typeface="Calibri"/>
                <a:cs typeface="Calibri"/>
              </a:rPr>
              <a:t>Ad Omnia</a:t>
            </a:r>
            <a:endParaRPr lang="pt-PT">
              <a:latin typeface="Gill Sans MT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A4D5088-7F73-0374-6DED-AB7221A72457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685800" y="3611880"/>
            <a:ext cx="45720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>
                <a:latin typeface="Gill Sans MT"/>
                <a:ea typeface="Calibri"/>
                <a:cs typeface="Calibri"/>
              </a:rPr>
              <a:t>Ad omnia in perpetuum</a:t>
            </a:r>
            <a:endParaRPr lang="pt-PT">
              <a:latin typeface="Gill Sans MT"/>
            </a:endParaRPr>
          </a:p>
        </p:txBody>
      </p:sp>
      <p:pic>
        <p:nvPicPr>
          <p:cNvPr id="4" name="Picture 3" descr="Ficheiro:UA Logo e Símbolo.png – Wikipédia, a enciclopédia livre">
            <a:extLst>
              <a:ext uri="{FF2B5EF4-FFF2-40B4-BE49-F238E27FC236}">
                <a16:creationId xmlns:a16="http://schemas.microsoft.com/office/drawing/2014/main" id="{CB1DA1AE-97F7-1CB6-C8F3-40517D150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50" y="6308066"/>
            <a:ext cx="1791240" cy="431321"/>
          </a:xfrm>
          <a:prstGeom prst="rect">
            <a:avLst/>
          </a:prstGeom>
        </p:spPr>
      </p:pic>
      <p:pic>
        <p:nvPicPr>
          <p:cNvPr id="6" name="Picture 5" descr="Building Resilient Communications for Distributed Systems Applications:  From Blockchain to Autonomous Vehicles and 5G V2X : vTools Events | vTools  IEEE">
            <a:extLst>
              <a:ext uri="{FF2B5EF4-FFF2-40B4-BE49-F238E27FC236}">
                <a16:creationId xmlns:a16="http://schemas.microsoft.com/office/drawing/2014/main" id="{8A7C44CE-29B6-F53A-CE9D-39E3C4E7B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647" y="6180557"/>
            <a:ext cx="2123178" cy="70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73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1C2F2E3-405F-2617-4585-177A5872ABC2}"/>
              </a:ext>
            </a:extLst>
          </p:cNvPr>
          <p:cNvCxnSpPr/>
          <p:nvPr/>
        </p:nvCxnSpPr>
        <p:spPr>
          <a:xfrm flipH="1">
            <a:off x="1562950" y="2284499"/>
            <a:ext cx="9993" cy="427221"/>
          </a:xfrm>
          <a:prstGeom prst="straightConnector1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8325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r>
              <a:rPr lang="en-US">
                <a:latin typeface="Gill Sans MT"/>
                <a:ea typeface="Calibri"/>
                <a:cs typeface="Calibri"/>
              </a:rPr>
              <a:t>Context &amp; Problem</a:t>
            </a:r>
            <a:endParaRPr lang="pt-PT">
              <a:latin typeface="Gill Sans MT"/>
            </a:endParaRPr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195578" y="2697728"/>
            <a:ext cx="2737640" cy="2195836"/>
          </a:xfrm>
          <a:prstGeom prst="round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algn="ctr"/>
            <a:endParaRPr lang="en-US"/>
          </a:p>
          <a:p>
            <a:pPr algn="ctr"/>
            <a:endParaRPr lang="en-US">
              <a:latin typeface="Calibri"/>
              <a:ea typeface="Calibri"/>
              <a:cs typeface="Calibri"/>
            </a:endParaRPr>
          </a:p>
          <a:p>
            <a:pPr algn="ctr"/>
            <a:r>
              <a:rPr lang="en-US" sz="2400">
                <a:latin typeface="Gill Sans MT"/>
                <a:ea typeface="Calibri"/>
                <a:cs typeface="Calibri"/>
              </a:rPr>
              <a:t>Data scattered across multiple sources</a:t>
            </a:r>
            <a:endParaRPr lang="en-US" sz="2400">
              <a:latin typeface="Gill Sans MT"/>
            </a:endParaRPr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C19A590-B03E-616A-A850-C4C1CE4C44CB}"/>
              </a:ext>
            </a:extLst>
          </p:cNvPr>
          <p:cNvSpPr/>
          <p:nvPr/>
        </p:nvSpPr>
        <p:spPr>
          <a:xfrm>
            <a:off x="1378698" y="2107674"/>
            <a:ext cx="365794" cy="36579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ED31BF-7503-3A78-ECF0-E8E922BB573C}"/>
              </a:ext>
            </a:extLst>
          </p:cNvPr>
          <p:cNvCxnSpPr>
            <a:cxnSpLocks/>
          </p:cNvCxnSpPr>
          <p:nvPr/>
        </p:nvCxnSpPr>
        <p:spPr>
          <a:xfrm>
            <a:off x="5731343" y="2272006"/>
            <a:ext cx="2498" cy="2013679"/>
          </a:xfrm>
          <a:prstGeom prst="straightConnector1">
            <a:avLst/>
          </a:prstGeom>
          <a:ln w="57150">
            <a:solidFill>
              <a:srgbClr val="60A5FA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 0">
            <a:extLst>
              <a:ext uri="{FF2B5EF4-FFF2-40B4-BE49-F238E27FC236}">
                <a16:creationId xmlns:a16="http://schemas.microsoft.com/office/drawing/2014/main" id="{9C5363E0-5163-0144-E05A-87AD19B552A9}"/>
              </a:ext>
            </a:extLst>
          </p:cNvPr>
          <p:cNvSpPr txBox="1">
            <a:spLocks/>
          </p:cNvSpPr>
          <p:nvPr/>
        </p:nvSpPr>
        <p:spPr>
          <a:xfrm>
            <a:off x="4359370" y="4099308"/>
            <a:ext cx="2737640" cy="2195836"/>
          </a:xfrm>
          <a:prstGeom prst="roundRect">
            <a:avLst/>
          </a:prstGeom>
          <a:ln w="12700" cap="flat" cmpd="sng" algn="ctr">
            <a:solidFill>
              <a:srgbClr val="4472C4"/>
            </a:solidFill>
            <a:prstDash val="solid"/>
            <a:miter lim="800000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 sz="900">
              <a:latin typeface="Calibri"/>
              <a:ea typeface="Calibri"/>
              <a:cs typeface="Calibri"/>
            </a:endParaRPr>
          </a:p>
          <a:p>
            <a:endParaRPr lang="en-US" sz="900">
              <a:latin typeface="Calibri"/>
              <a:ea typeface="Calibri"/>
              <a:cs typeface="Calibri"/>
            </a:endParaRPr>
          </a:p>
          <a:p>
            <a:endParaRPr lang="en-US" sz="9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2400">
                <a:latin typeface="Gill Sans MT"/>
                <a:ea typeface="Calibri"/>
                <a:cs typeface="Calibri"/>
              </a:rPr>
              <a:t>Delay in critical scenarios.</a:t>
            </a:r>
            <a:endParaRPr lang="en-US" sz="2400">
              <a:latin typeface="Gill Sans M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7187964-1C44-70CD-3E72-BC0AFB267829}"/>
              </a:ext>
            </a:extLst>
          </p:cNvPr>
          <p:cNvSpPr/>
          <p:nvPr/>
        </p:nvSpPr>
        <p:spPr>
          <a:xfrm>
            <a:off x="5537097" y="2095181"/>
            <a:ext cx="365794" cy="36579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BD2F518-BE39-4499-6BE4-F66BB0A96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680" y="2746947"/>
            <a:ext cx="1014335" cy="10518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8C928B-7A22-3787-80EF-8A259BCC8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587" y="4283440"/>
            <a:ext cx="1039318" cy="103931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7BC31C-EAF1-1F0B-43E3-A2BD06CDA80A}"/>
              </a:ext>
            </a:extLst>
          </p:cNvPr>
          <p:cNvCxnSpPr>
            <a:cxnSpLocks/>
          </p:cNvCxnSpPr>
          <p:nvPr/>
        </p:nvCxnSpPr>
        <p:spPr>
          <a:xfrm flipV="1">
            <a:off x="9903604" y="1125259"/>
            <a:ext cx="14990" cy="3257861"/>
          </a:xfrm>
          <a:prstGeom prst="straightConnector1">
            <a:avLst/>
          </a:prstGeom>
          <a:ln w="57150">
            <a:solidFill>
              <a:srgbClr val="5EEAD4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Text 0">
            <a:extLst>
              <a:ext uri="{FF2B5EF4-FFF2-40B4-BE49-F238E27FC236}">
                <a16:creationId xmlns:a16="http://schemas.microsoft.com/office/drawing/2014/main" id="{5C8DF055-10B9-7F2E-B005-197C934A0EAA}"/>
              </a:ext>
            </a:extLst>
          </p:cNvPr>
          <p:cNvSpPr txBox="1">
            <a:spLocks/>
          </p:cNvSpPr>
          <p:nvPr/>
        </p:nvSpPr>
        <p:spPr>
          <a:xfrm>
            <a:off x="8556615" y="176881"/>
            <a:ext cx="2737640" cy="2195836"/>
          </a:xfrm>
          <a:prstGeom prst="roundRect">
            <a:avLst/>
          </a:prstGeom>
          <a:ln w="12700" cap="flat" cmpd="sng" algn="ctr">
            <a:solidFill>
              <a:srgbClr val="5EEAD4"/>
            </a:solidFill>
            <a:prstDash val="solid"/>
            <a:miter lim="800000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rgbClr val="1616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 sz="900">
              <a:latin typeface="Calibri"/>
              <a:ea typeface="Calibri"/>
              <a:cs typeface="Calibri"/>
            </a:endParaRPr>
          </a:p>
          <a:p>
            <a:endParaRPr lang="en-US" sz="900">
              <a:latin typeface="Calibri"/>
              <a:ea typeface="Calibri"/>
              <a:cs typeface="Calibri"/>
            </a:endParaRPr>
          </a:p>
          <a:p>
            <a:pPr algn="ctr"/>
            <a:r>
              <a:rPr lang="en-US" sz="2400">
                <a:latin typeface="Gill Sans MT"/>
                <a:ea typeface="Calibri"/>
                <a:cs typeface="Calibri"/>
              </a:rPr>
              <a:t>Severe damage to infrastructures and citizens.</a:t>
            </a:r>
            <a:endParaRPr lang="en-US" sz="2400">
              <a:latin typeface="Gill Sans M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D73554-3337-E7A0-2BD7-1308DBD18EB2}"/>
              </a:ext>
            </a:extLst>
          </p:cNvPr>
          <p:cNvSpPr/>
          <p:nvPr/>
        </p:nvSpPr>
        <p:spPr>
          <a:xfrm>
            <a:off x="9721850" y="4206295"/>
            <a:ext cx="365794" cy="365794"/>
          </a:xfrm>
          <a:prstGeom prst="ellipse">
            <a:avLst/>
          </a:prstGeom>
          <a:solidFill>
            <a:srgbClr val="5EEAD4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C40654E-F931-C486-5763-7A9BE3322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918" y="286672"/>
            <a:ext cx="914401" cy="9144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r>
              <a:rPr lang="en-US">
                <a:latin typeface="Gill Sans MT"/>
                <a:ea typeface="Calibri"/>
                <a:cs typeface="Calibri"/>
              </a:rPr>
              <a:t>Goals</a:t>
            </a:r>
            <a:endParaRPr lang="pt-PT">
              <a:latin typeface="Gill Sans M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BBB066D-C4B3-0B46-3D16-77E7EE128535}"/>
              </a:ext>
            </a:extLst>
          </p:cNvPr>
          <p:cNvSpPr/>
          <p:nvPr/>
        </p:nvSpPr>
        <p:spPr>
          <a:xfrm>
            <a:off x="689393" y="1588783"/>
            <a:ext cx="5049904" cy="92211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spcBef>
                <a:spcPct val="20000"/>
              </a:spcBef>
              <a:spcAft>
                <a:spcPts val="800"/>
              </a:spcAft>
            </a:pPr>
            <a:r>
              <a:rPr lang="en-US" sz="2400">
                <a:solidFill>
                  <a:srgbClr val="161616"/>
                </a:solidFill>
                <a:latin typeface="Gill Sans MT"/>
                <a:ea typeface="+mn-lt"/>
                <a:cs typeface="+mn-lt"/>
              </a:rPr>
              <a:t>Integrate diverse data into a single platform</a:t>
            </a:r>
            <a:endParaRPr lang="pt-PT" sz="2400">
              <a:latin typeface="Gill Sans MT"/>
              <a:ea typeface="Calibri"/>
              <a:cs typeface="Calibri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DBD0BF0-748B-994F-2565-6C5AFD19687E}"/>
              </a:ext>
            </a:extLst>
          </p:cNvPr>
          <p:cNvSpPr/>
          <p:nvPr/>
        </p:nvSpPr>
        <p:spPr>
          <a:xfrm>
            <a:off x="689392" y="3945903"/>
            <a:ext cx="5049904" cy="92211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spcBef>
                <a:spcPct val="20000"/>
              </a:spcBef>
              <a:spcAft>
                <a:spcPts val="800"/>
              </a:spcAft>
            </a:pPr>
            <a:r>
              <a:rPr lang="en-US" sz="2400">
                <a:solidFill>
                  <a:srgbClr val="161616"/>
                </a:solidFill>
                <a:latin typeface="Gill Sans MT"/>
                <a:ea typeface="+mn-lt"/>
                <a:cs typeface="+mn-lt"/>
              </a:rPr>
              <a:t>Develop a predictive AI engine to anticipate risk scenarios</a:t>
            </a:r>
            <a:endParaRPr lang="pt-PT" sz="2400">
              <a:latin typeface="Gill Sans MT"/>
              <a:ea typeface="Calibri"/>
              <a:cs typeface="Calibri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DAA162C-4352-C9EC-2E26-B0035E92EEB9}"/>
              </a:ext>
            </a:extLst>
          </p:cNvPr>
          <p:cNvSpPr/>
          <p:nvPr/>
        </p:nvSpPr>
        <p:spPr>
          <a:xfrm>
            <a:off x="689392" y="2767343"/>
            <a:ext cx="5049904" cy="92211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spcBef>
                <a:spcPct val="20000"/>
              </a:spcBef>
              <a:spcAft>
                <a:spcPts val="800"/>
              </a:spcAft>
            </a:pPr>
            <a:r>
              <a:rPr lang="en-US" sz="2400">
                <a:solidFill>
                  <a:srgbClr val="161616"/>
                </a:solidFill>
                <a:latin typeface="Gill Sans MT"/>
                <a:ea typeface="+mn-lt"/>
                <a:cs typeface="+mn-lt"/>
              </a:rPr>
              <a:t>Build a COP (Common Operational Picture) interface for decision support</a:t>
            </a:r>
            <a:endParaRPr lang="pt-PT" sz="2400">
              <a:latin typeface="Gill Sans MT"/>
              <a:ea typeface="Calibri"/>
              <a:cs typeface="Calibri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1632B88-8BE5-C0E2-C1E1-EAD4E07230A4}"/>
              </a:ext>
            </a:extLst>
          </p:cNvPr>
          <p:cNvSpPr/>
          <p:nvPr/>
        </p:nvSpPr>
        <p:spPr>
          <a:xfrm>
            <a:off x="689392" y="5124463"/>
            <a:ext cx="5049904" cy="89163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>
              <a:spcBef>
                <a:spcPct val="20000"/>
              </a:spcBef>
              <a:spcAft>
                <a:spcPts val="800"/>
              </a:spcAft>
            </a:pPr>
            <a:r>
              <a:rPr lang="en-US" sz="2400">
                <a:solidFill>
                  <a:srgbClr val="161616"/>
                </a:solidFill>
                <a:latin typeface="Gill Sans MT"/>
                <a:ea typeface="+mn-lt"/>
                <a:cs typeface="+mn-lt"/>
              </a:rPr>
              <a:t>Automated recommendation for resource allocation, routing, etc.</a:t>
            </a:r>
            <a:endParaRPr lang="pt-PT" sz="2400"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r>
              <a:rPr lang="en-US">
                <a:latin typeface="Gill Sans MT"/>
                <a:ea typeface="Calibri"/>
                <a:cs typeface="Calibri"/>
              </a:rPr>
              <a:t>Expected results</a:t>
            </a:r>
            <a:endParaRPr lang="en-US">
              <a:latin typeface="Gill Sans M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C3379C5-44BA-C771-EC79-F5CCB1E38954}"/>
              </a:ext>
            </a:extLst>
          </p:cNvPr>
          <p:cNvSpPr/>
          <p:nvPr/>
        </p:nvSpPr>
        <p:spPr>
          <a:xfrm>
            <a:off x="681542" y="1520345"/>
            <a:ext cx="4851378" cy="1209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2000" err="1">
                <a:latin typeface="Gill Sans MT"/>
                <a:ea typeface="+mn-lt"/>
                <a:cs typeface="+mn-lt"/>
              </a:rPr>
              <a:t>Functional</a:t>
            </a:r>
            <a:r>
              <a:rPr lang="pt-PT" sz="2000">
                <a:latin typeface="Gill Sans MT"/>
                <a:ea typeface="+mn-lt"/>
                <a:cs typeface="+mn-lt"/>
              </a:rPr>
              <a:t> COP </a:t>
            </a:r>
            <a:r>
              <a:rPr lang="pt-PT" sz="2000" err="1">
                <a:latin typeface="Gill Sans MT"/>
                <a:ea typeface="+mn-lt"/>
                <a:cs typeface="+mn-lt"/>
              </a:rPr>
              <a:t>platform</a:t>
            </a:r>
            <a:r>
              <a:rPr lang="pt-PT" sz="2000">
                <a:latin typeface="Gill Sans MT"/>
                <a:ea typeface="+mn-lt"/>
                <a:cs typeface="+mn-lt"/>
              </a:rPr>
              <a:t> for </a:t>
            </a:r>
            <a:r>
              <a:rPr lang="pt-PT" sz="2000" err="1">
                <a:latin typeface="Gill Sans MT"/>
                <a:ea typeface="+mn-lt"/>
                <a:cs typeface="+mn-lt"/>
              </a:rPr>
              <a:t>spatio</a:t>
            </a:r>
            <a:r>
              <a:rPr lang="pt-PT" sz="2000">
                <a:latin typeface="Gill Sans MT"/>
                <a:ea typeface="+mn-lt"/>
                <a:cs typeface="+mn-lt"/>
              </a:rPr>
              <a:t>-temporal data </a:t>
            </a:r>
            <a:r>
              <a:rPr lang="pt-PT" sz="2000" err="1">
                <a:latin typeface="Gill Sans MT"/>
                <a:ea typeface="+mn-lt"/>
                <a:cs typeface="+mn-lt"/>
              </a:rPr>
              <a:t>visualization</a:t>
            </a:r>
            <a:r>
              <a:rPr lang="pt-PT" sz="2000">
                <a:latin typeface="Gill Sans MT"/>
                <a:ea typeface="+mn-lt"/>
                <a:cs typeface="+mn-lt"/>
              </a:rPr>
              <a:t>, </a:t>
            </a:r>
            <a:r>
              <a:rPr lang="pt-PT" sz="2000" err="1">
                <a:latin typeface="Gill Sans MT"/>
                <a:ea typeface="+mn-lt"/>
                <a:cs typeface="+mn-lt"/>
              </a:rPr>
              <a:t>featuring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public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and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private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access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tiers</a:t>
            </a:r>
            <a:endParaRPr lang="pt-PT" sz="2000">
              <a:latin typeface="Gill Sans MT"/>
              <a:ea typeface="Calibri"/>
              <a:cs typeface="Calibri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21BEECF-AC36-79D2-29D0-7B11DE7BF729}"/>
              </a:ext>
            </a:extLst>
          </p:cNvPr>
          <p:cNvSpPr/>
          <p:nvPr/>
        </p:nvSpPr>
        <p:spPr>
          <a:xfrm>
            <a:off x="681542" y="3003705"/>
            <a:ext cx="4851378" cy="1209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 err="1">
                <a:latin typeface="Gill Sans MT"/>
                <a:ea typeface="+mn-lt"/>
                <a:cs typeface="+mn-lt"/>
              </a:rPr>
              <a:t>Trained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Predictive</a:t>
            </a:r>
            <a:r>
              <a:rPr lang="pt-PT" sz="2000">
                <a:latin typeface="Gill Sans MT"/>
                <a:ea typeface="+mn-lt"/>
                <a:cs typeface="+mn-lt"/>
              </a:rPr>
              <a:t> AI </a:t>
            </a:r>
            <a:r>
              <a:rPr lang="pt-PT" sz="2000" err="1">
                <a:latin typeface="Gill Sans MT"/>
                <a:ea typeface="+mn-lt"/>
                <a:cs typeface="+mn-lt"/>
              </a:rPr>
              <a:t>model</a:t>
            </a:r>
            <a:r>
              <a:rPr lang="pt-PT" sz="2000">
                <a:latin typeface="Gill Sans MT"/>
                <a:ea typeface="+mn-lt"/>
                <a:cs typeface="+mn-lt"/>
              </a:rPr>
              <a:t> for </a:t>
            </a:r>
            <a:r>
              <a:rPr lang="pt-PT" sz="2000" err="1">
                <a:latin typeface="Gill Sans MT"/>
                <a:ea typeface="+mn-lt"/>
                <a:cs typeface="+mn-lt"/>
              </a:rPr>
              <a:t>risk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scenario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forecasting</a:t>
            </a:r>
            <a:endParaRPr lang="pt-PT" sz="2000">
              <a:latin typeface="Gill Sans MT"/>
              <a:ea typeface="+mn-lt"/>
              <a:cs typeface="+mn-lt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D46C4CE-4200-60D5-D8BD-07882BDD5E0A}"/>
              </a:ext>
            </a:extLst>
          </p:cNvPr>
          <p:cNvSpPr/>
          <p:nvPr/>
        </p:nvSpPr>
        <p:spPr>
          <a:xfrm>
            <a:off x="3669907" y="4488390"/>
            <a:ext cx="4851378" cy="120908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 err="1">
                <a:latin typeface="Gill Sans MT"/>
                <a:ea typeface="+mn-lt"/>
                <a:cs typeface="+mn-lt"/>
              </a:rPr>
              <a:t>Tactical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recommendation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system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providing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automated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suggestions</a:t>
            </a:r>
            <a:r>
              <a:rPr lang="pt-PT" sz="2000">
                <a:latin typeface="Gill Sans MT"/>
                <a:ea typeface="+mn-lt"/>
                <a:cs typeface="+mn-lt"/>
              </a:rPr>
              <a:t> for </a:t>
            </a:r>
            <a:r>
              <a:rPr lang="pt-PT" sz="2000" err="1">
                <a:latin typeface="Gill Sans MT"/>
                <a:ea typeface="+mn-lt"/>
                <a:cs typeface="+mn-lt"/>
              </a:rPr>
              <a:t>asset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allocation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and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routing</a:t>
            </a:r>
            <a:endParaRPr lang="pt-PT" sz="2000" err="1">
              <a:latin typeface="Gill Sans MT"/>
              <a:ea typeface="Calibri"/>
              <a:cs typeface="Calibri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CBA206F-13B0-098F-1ADD-18AF1F8589E5}"/>
              </a:ext>
            </a:extLst>
          </p:cNvPr>
          <p:cNvSpPr/>
          <p:nvPr/>
        </p:nvSpPr>
        <p:spPr>
          <a:xfrm>
            <a:off x="6774892" y="3004147"/>
            <a:ext cx="4617698" cy="12090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 err="1">
                <a:latin typeface="Gill Sans MT"/>
                <a:ea typeface="+mn-lt"/>
                <a:cs typeface="+mn-lt"/>
              </a:rPr>
              <a:t>Scalable</a:t>
            </a:r>
            <a:r>
              <a:rPr lang="pt-PT" sz="2000">
                <a:latin typeface="Gill Sans MT"/>
                <a:ea typeface="+mn-lt"/>
                <a:cs typeface="+mn-lt"/>
              </a:rPr>
              <a:t>, plugin-</a:t>
            </a:r>
            <a:r>
              <a:rPr lang="pt-PT" sz="2000" err="1">
                <a:latin typeface="Gill Sans MT"/>
                <a:ea typeface="+mn-lt"/>
                <a:cs typeface="+mn-lt"/>
              </a:rPr>
              <a:t>based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architecture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designed</a:t>
            </a:r>
            <a:r>
              <a:rPr lang="pt-PT" sz="2000">
                <a:latin typeface="Gill Sans MT"/>
                <a:ea typeface="+mn-lt"/>
                <a:cs typeface="+mn-lt"/>
              </a:rPr>
              <a:t> for future </a:t>
            </a:r>
            <a:r>
              <a:rPr lang="pt-PT" sz="2000" err="1">
                <a:latin typeface="Gill Sans MT"/>
                <a:ea typeface="+mn-lt"/>
                <a:cs typeface="+mn-lt"/>
              </a:rPr>
              <a:t>platform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expansion</a:t>
            </a:r>
            <a:endParaRPr lang="pt-PT" sz="2000">
              <a:latin typeface="Gill Sans MT"/>
              <a:ea typeface="+mn-lt"/>
              <a:cs typeface="+mn-lt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6CB187F-E388-EE65-4E8F-E9D0FE5C9D96}"/>
              </a:ext>
            </a:extLst>
          </p:cNvPr>
          <p:cNvSpPr/>
          <p:nvPr/>
        </p:nvSpPr>
        <p:spPr>
          <a:xfrm>
            <a:off x="6655622" y="1520345"/>
            <a:ext cx="4851378" cy="12090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 err="1">
                <a:latin typeface="Gill Sans MT"/>
                <a:ea typeface="+mn-lt"/>
                <a:cs typeface="+mn-lt"/>
              </a:rPr>
              <a:t>Unified</a:t>
            </a:r>
            <a:r>
              <a:rPr lang="pt-PT" sz="2000">
                <a:latin typeface="Gill Sans MT"/>
                <a:ea typeface="+mn-lt"/>
                <a:cs typeface="+mn-lt"/>
              </a:rPr>
              <a:t> data </a:t>
            </a:r>
            <a:r>
              <a:rPr lang="pt-PT" sz="2000" err="1">
                <a:latin typeface="Gill Sans MT"/>
                <a:ea typeface="+mn-lt"/>
                <a:cs typeface="+mn-lt"/>
              </a:rPr>
              <a:t>ingestion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engine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with</a:t>
            </a:r>
            <a:r>
              <a:rPr lang="pt-PT" sz="2000">
                <a:latin typeface="Gill Sans MT"/>
                <a:ea typeface="+mn-lt"/>
                <a:cs typeface="+mn-lt"/>
              </a:rPr>
              <a:t> </a:t>
            </a:r>
            <a:r>
              <a:rPr lang="pt-PT" sz="2000" err="1">
                <a:latin typeface="Gill Sans MT"/>
                <a:ea typeface="+mn-lt"/>
                <a:cs typeface="+mn-lt"/>
              </a:rPr>
              <a:t>built</a:t>
            </a:r>
            <a:r>
              <a:rPr lang="pt-PT" sz="2000">
                <a:latin typeface="Gill Sans MT"/>
                <a:ea typeface="+mn-lt"/>
                <a:cs typeface="+mn-lt"/>
              </a:rPr>
              <a:t>-in </a:t>
            </a:r>
            <a:r>
              <a:rPr lang="pt-PT" sz="2000" err="1">
                <a:latin typeface="Gill Sans MT"/>
                <a:ea typeface="+mn-lt"/>
                <a:cs typeface="+mn-lt"/>
              </a:rPr>
              <a:t>connectors</a:t>
            </a:r>
            <a:r>
              <a:rPr lang="pt-PT" sz="2000">
                <a:latin typeface="Gill Sans MT"/>
                <a:ea typeface="+mn-lt"/>
                <a:cs typeface="+mn-lt"/>
              </a:rPr>
              <a:t> for </a:t>
            </a:r>
            <a:r>
              <a:rPr lang="pt-PT" sz="2000" err="1">
                <a:latin typeface="Gill Sans MT"/>
                <a:ea typeface="+mn-lt"/>
                <a:cs typeface="+mn-lt"/>
              </a:rPr>
              <a:t>public</a:t>
            </a:r>
            <a:r>
              <a:rPr lang="pt-PT" sz="2000">
                <a:latin typeface="Gill Sans MT"/>
                <a:ea typeface="+mn-lt"/>
                <a:cs typeface="+mn-lt"/>
              </a:rPr>
              <a:t> data </a:t>
            </a:r>
            <a:r>
              <a:rPr lang="pt-PT" sz="2000" err="1">
                <a:latin typeface="Gill Sans MT"/>
                <a:ea typeface="+mn-lt"/>
                <a:cs typeface="+mn-lt"/>
              </a:rPr>
              <a:t>sources</a:t>
            </a:r>
            <a:endParaRPr lang="pt-PT" sz="2000">
              <a:latin typeface="Gill Sans MT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2743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60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3600"/>
          </a:p>
        </p:txBody>
      </p:sp>
      <p:pic>
        <p:nvPicPr>
          <p:cNvPr id="4" name="Image 0"/>
          <p:cNvPicPr>
            <a:picLocks noGrp="1" noChangeAspect="1"/>
          </p:cNvPicPr>
          <p:nvPr>
            <p:ph idx="101" hasCustomPrompt="1"/>
          </p:nvPr>
        </p:nvPicPr>
        <p:blipFill>
          <a:blip r:embed="rId3"/>
          <a:srcRect/>
          <a:stretch/>
        </p:blipFill>
        <p:spPr>
          <a:xfrm>
            <a:off x="889000" y="2698750"/>
            <a:ext cx="1460500" cy="1460500"/>
          </a:xfrm>
          <a:prstGeom prst="ellipse">
            <a:avLst/>
          </a:prstGeom>
        </p:spPr>
      </p:pic>
      <p:pic>
        <p:nvPicPr>
          <p:cNvPr id="5" name="Image 1"/>
          <p:cNvPicPr>
            <a:picLocks noGrp="1" noChangeAspect="1"/>
          </p:cNvPicPr>
          <p:nvPr>
            <p:ph idx="104" hasCustomPrompt="1"/>
          </p:nvPr>
        </p:nvPicPr>
        <p:blipFill>
          <a:blip r:embed="rId4"/>
          <a:srcRect/>
          <a:stretch/>
        </p:blipFill>
        <p:spPr>
          <a:xfrm>
            <a:off x="3127375" y="2698750"/>
            <a:ext cx="1460500" cy="1460500"/>
          </a:xfrm>
          <a:prstGeom prst="ellipse">
            <a:avLst/>
          </a:prstGeom>
        </p:spPr>
      </p:pic>
      <p:pic>
        <p:nvPicPr>
          <p:cNvPr id="6" name="Image 2"/>
          <p:cNvPicPr>
            <a:picLocks noGrp="1" noChangeAspect="1"/>
          </p:cNvPicPr>
          <p:nvPr>
            <p:ph idx="107" hasCustomPrompt="1"/>
          </p:nvPr>
        </p:nvPicPr>
        <p:blipFill>
          <a:blip r:embed="rId5"/>
          <a:srcRect/>
          <a:stretch/>
        </p:blipFill>
        <p:spPr>
          <a:xfrm>
            <a:off x="5365750" y="2698750"/>
            <a:ext cx="1460500" cy="1460500"/>
          </a:xfrm>
          <a:prstGeom prst="ellipse">
            <a:avLst/>
          </a:prstGeom>
        </p:spPr>
      </p:pic>
      <p:pic>
        <p:nvPicPr>
          <p:cNvPr id="7" name="Image 3"/>
          <p:cNvPicPr>
            <a:picLocks noGrp="1" noChangeAspect="1"/>
          </p:cNvPicPr>
          <p:nvPr>
            <p:ph idx="110" hasCustomPrompt="1"/>
          </p:nvPr>
        </p:nvPicPr>
        <p:blipFill>
          <a:blip r:embed="rId6"/>
          <a:srcRect/>
          <a:stretch/>
        </p:blipFill>
        <p:spPr>
          <a:xfrm>
            <a:off x="7604125" y="2698750"/>
            <a:ext cx="1460500" cy="1460500"/>
          </a:xfrm>
          <a:prstGeom prst="ellipse">
            <a:avLst/>
          </a:prstGeom>
        </p:spPr>
      </p:pic>
      <p:pic>
        <p:nvPicPr>
          <p:cNvPr id="8" name="Image 4"/>
          <p:cNvPicPr>
            <a:picLocks noGrp="1" noChangeAspect="1"/>
          </p:cNvPicPr>
          <p:nvPr>
            <p:ph idx="113" hasCustomPrompt="1"/>
          </p:nvPr>
        </p:nvPicPr>
        <p:blipFill>
          <a:blip r:embed="rId7"/>
          <a:srcRect/>
          <a:stretch/>
        </p:blipFill>
        <p:spPr>
          <a:xfrm>
            <a:off x="9842500" y="2698750"/>
            <a:ext cx="1460500" cy="1460500"/>
          </a:xfrm>
          <a:prstGeom prst="ellipse">
            <a:avLst/>
          </a:prstGeom>
        </p:spPr>
      </p:pic>
      <p:sp>
        <p:nvSpPr>
          <p:cNvPr id="9" name="Text 0"/>
          <p:cNvSpPr>
            <a:spLocks noGrp="1"/>
          </p:cNvSpPr>
          <p:nvPr>
            <p:ph type="body" idx="102" hasCustomPrompt="1"/>
          </p:nvPr>
        </p:nvSpPr>
        <p:spPr>
          <a:xfrm>
            <a:off x="65913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latin typeface="Calibri"/>
                <a:ea typeface="Calibri"/>
                <a:cs typeface="Calibri"/>
              </a:rPr>
              <a:t>Bernardo Reis</a:t>
            </a:r>
            <a:endParaRPr lang="pt-PT"/>
          </a:p>
        </p:txBody>
      </p:sp>
      <p:sp>
        <p:nvSpPr>
          <p:cNvPr id="10" name="Text 0"/>
          <p:cNvSpPr>
            <a:spLocks noGrp="1"/>
          </p:cNvSpPr>
          <p:nvPr>
            <p:ph type="body" idx="103" hasCustomPrompt="1"/>
          </p:nvPr>
        </p:nvSpPr>
        <p:spPr>
          <a:xfrm>
            <a:off x="65913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latin typeface="Calibri"/>
                <a:ea typeface="Calibri"/>
                <a:cs typeface="Calibri"/>
              </a:rPr>
              <a:t>ML Engineer</a:t>
            </a:r>
            <a:endParaRPr lang="pt-PT"/>
          </a:p>
        </p:txBody>
      </p:sp>
      <p:sp>
        <p:nvSpPr>
          <p:cNvPr id="11" name="Text 0"/>
          <p:cNvSpPr>
            <a:spLocks noGrp="1"/>
          </p:cNvSpPr>
          <p:nvPr>
            <p:ph type="body" idx="105" hasCustomPrompt="1"/>
          </p:nvPr>
        </p:nvSpPr>
        <p:spPr>
          <a:xfrm>
            <a:off x="2897505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>
                <a:latin typeface="Calibri"/>
                <a:ea typeface="Calibri"/>
                <a:cs typeface="Calibri"/>
              </a:rPr>
              <a:t>Diogo</a:t>
            </a:r>
            <a:r>
              <a:rPr lang="en-US" sz="1800" b="1">
                <a:solidFill>
                  <a:srgbClr val="161616"/>
                </a:solidFill>
                <a:latin typeface="Calibri"/>
                <a:ea typeface="Calibri"/>
                <a:cs typeface="Calibri"/>
              </a:rPr>
              <a:t> Silva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0"/>
          <p:cNvSpPr>
            <a:spLocks noGrp="1"/>
          </p:cNvSpPr>
          <p:nvPr>
            <p:ph type="body" idx="106" hasCustomPrompt="1"/>
          </p:nvPr>
        </p:nvSpPr>
        <p:spPr>
          <a:xfrm>
            <a:off x="2897505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latin typeface="Calibri"/>
                <a:ea typeface="Calibri"/>
                <a:cs typeface="Calibri"/>
              </a:rPr>
              <a:t>SCRUM Master</a:t>
            </a:r>
            <a:endParaRPr lang="pt-PT"/>
          </a:p>
        </p:txBody>
      </p:sp>
      <p:sp>
        <p:nvSpPr>
          <p:cNvPr id="13" name="Text 0"/>
          <p:cNvSpPr>
            <a:spLocks noGrp="1"/>
          </p:cNvSpPr>
          <p:nvPr>
            <p:ph type="body" idx="108" hasCustomPrompt="1"/>
          </p:nvPr>
        </p:nvSpPr>
        <p:spPr>
          <a:xfrm>
            <a:off x="513588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latin typeface="Calibri"/>
                <a:ea typeface="Calibri"/>
                <a:cs typeface="Calibri"/>
              </a:rPr>
              <a:t>Fernando Santos</a:t>
            </a:r>
            <a:endParaRPr lang="pt-PT"/>
          </a:p>
        </p:txBody>
      </p:sp>
      <p:sp>
        <p:nvSpPr>
          <p:cNvPr id="14" name="Text 0"/>
          <p:cNvSpPr>
            <a:spLocks noGrp="1"/>
          </p:cNvSpPr>
          <p:nvPr>
            <p:ph type="body" idx="109" hasCustomPrompt="1"/>
          </p:nvPr>
        </p:nvSpPr>
        <p:spPr>
          <a:xfrm>
            <a:off x="513588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>
                <a:latin typeface="Calibri"/>
                <a:ea typeface="Calibri"/>
                <a:cs typeface="Calibri"/>
              </a:rPr>
              <a:t>Architect</a:t>
            </a:r>
            <a:endParaRPr lang="en-US" sz="1400"/>
          </a:p>
        </p:txBody>
      </p:sp>
      <p:sp>
        <p:nvSpPr>
          <p:cNvPr id="15" name="Text 0"/>
          <p:cNvSpPr>
            <a:spLocks noGrp="1"/>
          </p:cNvSpPr>
          <p:nvPr>
            <p:ph type="body" idx="111" hasCustomPrompt="1"/>
          </p:nvPr>
        </p:nvSpPr>
        <p:spPr>
          <a:xfrm>
            <a:off x="7374255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latin typeface="Calibri"/>
                <a:ea typeface="Calibri"/>
                <a:cs typeface="Calibri"/>
              </a:rPr>
              <a:t>Guilherme Martins</a:t>
            </a:r>
            <a:endParaRPr lang="pt-PT"/>
          </a:p>
        </p:txBody>
      </p:sp>
      <p:sp>
        <p:nvSpPr>
          <p:cNvPr id="16" name="Text 0"/>
          <p:cNvSpPr>
            <a:spLocks noGrp="1"/>
          </p:cNvSpPr>
          <p:nvPr>
            <p:ph type="body" idx="112" hasCustomPrompt="1"/>
          </p:nvPr>
        </p:nvSpPr>
        <p:spPr>
          <a:xfrm>
            <a:off x="7374255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>
                <a:latin typeface="Calibri"/>
                <a:ea typeface="Calibri"/>
                <a:cs typeface="Calibri"/>
              </a:rPr>
              <a:t>DevOps</a:t>
            </a:r>
            <a:endParaRPr lang="pt-PT"/>
          </a:p>
        </p:txBody>
      </p:sp>
      <p:sp>
        <p:nvSpPr>
          <p:cNvPr id="17" name="Text 0"/>
          <p:cNvSpPr>
            <a:spLocks noGrp="1"/>
          </p:cNvSpPr>
          <p:nvPr>
            <p:ph type="body" idx="114" hasCustomPrompt="1"/>
          </p:nvPr>
        </p:nvSpPr>
        <p:spPr>
          <a:xfrm>
            <a:off x="9612630" y="456565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latin typeface="Calibri"/>
                <a:ea typeface="Calibri"/>
                <a:cs typeface="Calibri"/>
              </a:rPr>
              <a:t>Miguel Neto</a:t>
            </a:r>
            <a:endParaRPr lang="pt-PT"/>
          </a:p>
        </p:txBody>
      </p:sp>
      <p:sp>
        <p:nvSpPr>
          <p:cNvPr id="18" name="Text 0"/>
          <p:cNvSpPr>
            <a:spLocks noGrp="1"/>
          </p:cNvSpPr>
          <p:nvPr>
            <p:ph type="body" idx="115" hasCustomPrompt="1"/>
          </p:nvPr>
        </p:nvSpPr>
        <p:spPr>
          <a:xfrm>
            <a:off x="9612630" y="493141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>
                <a:latin typeface="Calibri"/>
                <a:ea typeface="Calibri"/>
                <a:cs typeface="Calibri"/>
              </a:rPr>
              <a:t>Backend</a:t>
            </a:r>
            <a:endParaRPr lang="pt-PT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535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AC63C-BE89-7497-2E42-7783F9E14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E4814A6-48F8-8FED-32F6-B75855290F3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r>
              <a:rPr lang="en-US">
                <a:latin typeface="Gill Sans MT"/>
                <a:ea typeface="Calibri"/>
                <a:cs typeface="Calibri"/>
              </a:rPr>
              <a:t>State of the Art</a:t>
            </a:r>
            <a:endParaRPr lang="pt-PT">
              <a:latin typeface="Gill Sans MT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F08E621-4DD1-4572-D995-F265D0E72CE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5" name="Imagem 4" descr="Uma imagem com texto, captura de ecrã&#10;&#10;Os conteúdos gerados por IA poderão estar incorretos.">
            <a:extLst>
              <a:ext uri="{FF2B5EF4-FFF2-40B4-BE49-F238E27FC236}">
                <a16:creationId xmlns:a16="http://schemas.microsoft.com/office/drawing/2014/main" id="{8C8C5219-12BF-9D80-2E66-38DA406C4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" y="1431996"/>
            <a:ext cx="9700260" cy="457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13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92571-6A27-969C-A58A-C4BD62B1F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A6BC06F-D810-CB53-7FAF-C2B60E9C347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r>
              <a:rPr lang="en-US">
                <a:latin typeface="Gill Sans MT"/>
                <a:ea typeface="Calibri"/>
                <a:cs typeface="Calibri"/>
              </a:rPr>
              <a:t>High-Level Architecture</a:t>
            </a:r>
            <a:endParaRPr lang="en-US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0797A14-F378-8950-FF43-3BD4BACCD8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E1972A-E57A-195D-C7BC-E3FFFBF77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88" y="1328469"/>
            <a:ext cx="9096015" cy="468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854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419A2-36DD-4C0F-B787-78BDF4DB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55B0A7E-1EE4-213D-3E61-9FBE5D7E489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12700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r>
              <a:rPr lang="en-US">
                <a:latin typeface="Gill Sans MT"/>
                <a:ea typeface="Calibri"/>
                <a:cs typeface="Calibri"/>
              </a:rPr>
              <a:t>Project Calendar</a:t>
            </a:r>
            <a:endParaRPr lang="pt-PT">
              <a:latin typeface="Gill Sans MT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C5C0702-BCF0-842F-E3CA-D8923A8893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81778" y="6043682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37E34F5-BAF4-3C9C-3855-F15C83E66872}"/>
              </a:ext>
            </a:extLst>
          </p:cNvPr>
          <p:cNvSpPr/>
          <p:nvPr/>
        </p:nvSpPr>
        <p:spPr>
          <a:xfrm>
            <a:off x="681542" y="1154833"/>
            <a:ext cx="1965938" cy="4978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 err="1">
                <a:latin typeface="Gill Sans MT"/>
                <a:ea typeface="+mn-lt"/>
                <a:cs typeface="+mn-lt"/>
              </a:rPr>
              <a:t>Milestone</a:t>
            </a:r>
            <a:endParaRPr lang="pt-PT" err="1">
              <a:ea typeface="Calibri"/>
              <a:cs typeface="Calibri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917490D-95AA-F25B-83EA-BE9A3D98534E}"/>
              </a:ext>
            </a:extLst>
          </p:cNvPr>
          <p:cNvSpPr/>
          <p:nvPr/>
        </p:nvSpPr>
        <p:spPr>
          <a:xfrm>
            <a:off x="3221542" y="1164993"/>
            <a:ext cx="2301218" cy="4978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Date</a:t>
            </a:r>
            <a:endParaRPr lang="pt-PT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9E76840-7DD0-9B58-750D-3FB346AB1684}"/>
              </a:ext>
            </a:extLst>
          </p:cNvPr>
          <p:cNvSpPr/>
          <p:nvPr/>
        </p:nvSpPr>
        <p:spPr>
          <a:xfrm>
            <a:off x="6027027" y="1166318"/>
            <a:ext cx="4516098" cy="48772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 err="1">
                <a:latin typeface="Gill Sans MT"/>
                <a:ea typeface="+mn-lt"/>
                <a:cs typeface="+mn-lt"/>
              </a:rPr>
              <a:t>Tasks</a:t>
            </a:r>
            <a:endParaRPr lang="pt-PT" err="1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80D9894-46C9-22BF-69CA-95379644657E}"/>
              </a:ext>
            </a:extLst>
          </p:cNvPr>
          <p:cNvSpPr/>
          <p:nvPr/>
        </p:nvSpPr>
        <p:spPr>
          <a:xfrm>
            <a:off x="681542" y="1784753"/>
            <a:ext cx="1965938" cy="162564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M1</a:t>
            </a:r>
            <a:endParaRPr lang="pt-PT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89C254D-CD2A-9446-B27A-B13E622EB333}"/>
              </a:ext>
            </a:extLst>
          </p:cNvPr>
          <p:cNvSpPr/>
          <p:nvPr/>
        </p:nvSpPr>
        <p:spPr>
          <a:xfrm>
            <a:off x="3221542" y="1784753"/>
            <a:ext cx="2301218" cy="16256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22/09</a:t>
            </a:r>
            <a:r>
              <a:rPr lang="en-US" sz="2000">
                <a:latin typeface="Gill Sans MT"/>
                <a:ea typeface="+mn-lt"/>
                <a:cs typeface="+mn-lt"/>
              </a:rPr>
              <a:t> </a:t>
            </a:r>
            <a:r>
              <a:rPr lang="pt-PT" sz="2000">
                <a:latin typeface="Gill Sans MT"/>
                <a:ea typeface="+mn-lt"/>
                <a:cs typeface="+mn-lt"/>
              </a:rPr>
              <a:t>-</a:t>
            </a:r>
            <a:r>
              <a:rPr lang="en-US" sz="2000">
                <a:latin typeface="Gill Sans MT"/>
                <a:ea typeface="+mn-lt"/>
                <a:cs typeface="+mn-lt"/>
              </a:rPr>
              <a:t> </a:t>
            </a:r>
            <a:r>
              <a:rPr lang="pt-PT" sz="2000">
                <a:latin typeface="Gill Sans MT"/>
                <a:ea typeface="+mn-lt"/>
                <a:cs typeface="+mn-lt"/>
              </a:rPr>
              <a:t>29/09</a:t>
            </a:r>
            <a:endParaRPr lang="pt-PT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7999FBB-9FF7-7612-46C1-DD0EC36029DB}"/>
              </a:ext>
            </a:extLst>
          </p:cNvPr>
          <p:cNvSpPr/>
          <p:nvPr/>
        </p:nvSpPr>
        <p:spPr>
          <a:xfrm>
            <a:off x="6027027" y="1786078"/>
            <a:ext cx="4516098" cy="162564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PT" sz="1600">
              <a:ea typeface="Calibri"/>
              <a:cs typeface="Calibri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7DE2408-457B-75A0-6E25-A3099B9ABC17}"/>
              </a:ext>
            </a:extLst>
          </p:cNvPr>
          <p:cNvSpPr txBox="1"/>
          <p:nvPr/>
        </p:nvSpPr>
        <p:spPr>
          <a:xfrm>
            <a:off x="6095999" y="1788407"/>
            <a:ext cx="437896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PT" sz="1600">
                <a:latin typeface="Gill Sans MT"/>
              </a:rPr>
              <a:t>GitHub </a:t>
            </a:r>
            <a:r>
              <a:rPr lang="pt-PT" sz="1600" err="1">
                <a:latin typeface="Gill Sans MT"/>
              </a:rPr>
              <a:t>Organization</a:t>
            </a:r>
            <a:r>
              <a:rPr lang="pt-PT" sz="1600">
                <a:latin typeface="Gill Sans MT"/>
              </a:rPr>
              <a:t> (Bernardo)</a:t>
            </a:r>
            <a:endParaRPr lang="pt-PT" sz="1600">
              <a:latin typeface="Gill Sans MT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Gill Sans MT"/>
              </a:rPr>
              <a:t>Project </a:t>
            </a:r>
            <a:r>
              <a:rPr lang="pt-PT" sz="1600" err="1">
                <a:latin typeface="Gill Sans MT"/>
              </a:rPr>
              <a:t>backlog</a:t>
            </a:r>
            <a:r>
              <a:rPr lang="pt-PT" sz="1600">
                <a:latin typeface="Gill Sans MT"/>
              </a:rPr>
              <a:t> </a:t>
            </a:r>
            <a:r>
              <a:rPr lang="pt-PT" sz="1600" err="1">
                <a:latin typeface="Gill Sans MT"/>
              </a:rPr>
              <a:t>using</a:t>
            </a:r>
            <a:r>
              <a:rPr lang="pt-PT" sz="1600">
                <a:latin typeface="Gill Sans MT"/>
              </a:rPr>
              <a:t> GitHub </a:t>
            </a:r>
            <a:r>
              <a:rPr lang="pt-PT" sz="1600" err="1">
                <a:latin typeface="Gill Sans MT"/>
              </a:rPr>
              <a:t>Projects</a:t>
            </a:r>
            <a:r>
              <a:rPr lang="pt-PT" sz="1600">
                <a:latin typeface="Gill Sans MT"/>
              </a:rPr>
              <a:t> (Diogo)</a:t>
            </a:r>
            <a:endParaRPr lang="pt-PT" sz="1600">
              <a:latin typeface="Gill Sans MT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Gill Sans MT"/>
              </a:rPr>
              <a:t>Project logo (Fernando)</a:t>
            </a:r>
            <a:endParaRPr lang="pt-PT" sz="1600">
              <a:latin typeface="Gill Sans MT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1600" err="1">
                <a:latin typeface="Gill Sans MT"/>
              </a:rPr>
              <a:t>State</a:t>
            </a:r>
            <a:r>
              <a:rPr lang="pt-PT" sz="1600">
                <a:latin typeface="Gill Sans MT"/>
              </a:rPr>
              <a:t> </a:t>
            </a:r>
            <a:r>
              <a:rPr lang="pt-PT" sz="1600" err="1">
                <a:latin typeface="Gill Sans MT"/>
              </a:rPr>
              <a:t>of</a:t>
            </a:r>
            <a:r>
              <a:rPr lang="pt-PT" sz="1600">
                <a:latin typeface="Gill Sans MT"/>
              </a:rPr>
              <a:t> </a:t>
            </a:r>
            <a:r>
              <a:rPr lang="pt-PT" sz="1600" err="1">
                <a:latin typeface="Gill Sans MT"/>
              </a:rPr>
              <a:t>The</a:t>
            </a:r>
            <a:r>
              <a:rPr lang="pt-PT" sz="1600">
                <a:latin typeface="Gill Sans MT"/>
              </a:rPr>
              <a:t> </a:t>
            </a:r>
            <a:r>
              <a:rPr lang="pt-PT" sz="1600" err="1">
                <a:latin typeface="Gill Sans MT"/>
              </a:rPr>
              <a:t>Art</a:t>
            </a:r>
            <a:r>
              <a:rPr lang="pt-PT" sz="1600">
                <a:latin typeface="Gill Sans MT"/>
              </a:rPr>
              <a:t> (Guilherme)</a:t>
            </a:r>
            <a:endParaRPr lang="pt-PT" sz="1600">
              <a:latin typeface="Gill Sans MT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pt-PT" sz="1600">
                <a:latin typeface="Gill Sans MT"/>
              </a:rPr>
              <a:t>Project Website (Miguel, Fernando)</a:t>
            </a:r>
            <a:endParaRPr lang="en-US" sz="1600">
              <a:latin typeface="Gill Sans MT"/>
            </a:endParaRPr>
          </a:p>
          <a:p>
            <a:pPr marL="285750" indent="-285750">
              <a:buFont typeface="Arial"/>
              <a:buChar char="•"/>
            </a:pPr>
            <a:r>
              <a:rPr lang="pt-PT" sz="1600" err="1">
                <a:latin typeface="Gill Sans MT"/>
              </a:rPr>
              <a:t>APIs</a:t>
            </a:r>
            <a:r>
              <a:rPr lang="pt-PT" sz="1600">
                <a:latin typeface="Gill Sans MT"/>
              </a:rPr>
              <a:t> </a:t>
            </a:r>
            <a:r>
              <a:rPr lang="pt-PT" sz="1600" err="1">
                <a:latin typeface="Gill Sans MT"/>
              </a:rPr>
              <a:t>and</a:t>
            </a:r>
            <a:r>
              <a:rPr lang="pt-PT" sz="1600">
                <a:latin typeface="Gill Sans MT"/>
              </a:rPr>
              <a:t> Data </a:t>
            </a:r>
            <a:r>
              <a:rPr lang="pt-PT" sz="1600" err="1">
                <a:latin typeface="Gill Sans MT"/>
              </a:rPr>
              <a:t>gathering</a:t>
            </a:r>
            <a:endParaRPr lang="pt-PT" sz="1600">
              <a:latin typeface="Gill Sans MT"/>
              <a:ea typeface="Calibri"/>
              <a:cs typeface="Calibri"/>
            </a:endParaRPr>
          </a:p>
          <a:p>
            <a:endParaRPr lang="pt-PT">
              <a:ea typeface="Calibri"/>
              <a:cs typeface="Calibri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7B619E3-60D2-8A4C-18CF-13C6D5F4346B}"/>
              </a:ext>
            </a:extLst>
          </p:cNvPr>
          <p:cNvSpPr/>
          <p:nvPr/>
        </p:nvSpPr>
        <p:spPr>
          <a:xfrm>
            <a:off x="681542" y="3635855"/>
            <a:ext cx="1965938" cy="134736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M2</a:t>
            </a:r>
            <a:endParaRPr lang="pt-PT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D870A76-5C50-6C72-A5E1-C8FB1D8801A2}"/>
              </a:ext>
            </a:extLst>
          </p:cNvPr>
          <p:cNvSpPr/>
          <p:nvPr/>
        </p:nvSpPr>
        <p:spPr>
          <a:xfrm>
            <a:off x="3212249" y="3635855"/>
            <a:ext cx="2310510" cy="13473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30/09</a:t>
            </a:r>
            <a:r>
              <a:rPr lang="en-US" sz="2000">
                <a:latin typeface="Gill Sans MT"/>
                <a:ea typeface="+mn-lt"/>
                <a:cs typeface="+mn-lt"/>
              </a:rPr>
              <a:t> </a:t>
            </a:r>
            <a:r>
              <a:rPr lang="pt-PT" sz="2000">
                <a:latin typeface="Gill Sans MT"/>
                <a:ea typeface="+mn-lt"/>
                <a:cs typeface="+mn-lt"/>
              </a:rPr>
              <a:t>-</a:t>
            </a:r>
            <a:r>
              <a:rPr lang="en-US" sz="2000">
                <a:latin typeface="Gill Sans MT"/>
                <a:ea typeface="+mn-lt"/>
                <a:cs typeface="+mn-lt"/>
              </a:rPr>
              <a:t> </a:t>
            </a:r>
            <a:r>
              <a:rPr lang="pt-PT" sz="2000">
                <a:latin typeface="Gill Sans MT"/>
                <a:ea typeface="+mn-lt"/>
                <a:cs typeface="+mn-lt"/>
              </a:rPr>
              <a:t>13/10</a:t>
            </a:r>
            <a:endParaRPr lang="pt-PT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D6F1B09-4BFB-5941-5FD4-5CC75DA1630A}"/>
              </a:ext>
            </a:extLst>
          </p:cNvPr>
          <p:cNvSpPr/>
          <p:nvPr/>
        </p:nvSpPr>
        <p:spPr>
          <a:xfrm>
            <a:off x="6027027" y="3637180"/>
            <a:ext cx="4516098" cy="134736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PT" sz="1600">
              <a:ea typeface="Calibri"/>
              <a:cs typeface="Calibri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9BA7205-D0BA-BB80-FE05-8E7D34B6E9EF}"/>
              </a:ext>
            </a:extLst>
          </p:cNvPr>
          <p:cNvSpPr txBox="1"/>
          <p:nvPr/>
        </p:nvSpPr>
        <p:spPr>
          <a:xfrm>
            <a:off x="6095998" y="3639508"/>
            <a:ext cx="437896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pt-PT" sz="1600">
                <a:latin typeface="Gill Sans MT"/>
                <a:ea typeface="+mn-lt"/>
                <a:cs typeface="+mn-lt"/>
              </a:rPr>
              <a:t> Personas, </a:t>
            </a:r>
            <a:r>
              <a:rPr lang="pt-PT" sz="1600" err="1">
                <a:latin typeface="Gill Sans MT"/>
                <a:ea typeface="+mn-lt"/>
                <a:cs typeface="+mn-lt"/>
              </a:rPr>
              <a:t>Requirements</a:t>
            </a: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+mn-lt"/>
                <a:cs typeface="+mn-lt"/>
              </a:rPr>
              <a:t>and</a:t>
            </a: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+mn-lt"/>
                <a:cs typeface="+mn-lt"/>
              </a:rPr>
              <a:t>User</a:t>
            </a: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+mn-lt"/>
                <a:cs typeface="+mn-lt"/>
              </a:rPr>
              <a:t>Stories</a:t>
            </a: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+mn-lt"/>
                <a:cs typeface="+mn-lt"/>
              </a:rPr>
              <a:t>gathering</a:t>
            </a:r>
            <a:endParaRPr lang="pt-PT" sz="1600">
              <a:latin typeface="Gill Sans MT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PT" sz="1600">
                <a:latin typeface="Gill Sans MT"/>
                <a:ea typeface="+mn-lt"/>
                <a:cs typeface="+mn-lt"/>
              </a:rPr>
              <a:t> </a:t>
            </a:r>
            <a:r>
              <a:rPr lang="pt-PT" sz="1600" err="1">
                <a:latin typeface="Gill Sans MT"/>
                <a:ea typeface="+mn-lt"/>
                <a:cs typeface="+mn-lt"/>
              </a:rPr>
              <a:t>Architecture</a:t>
            </a:r>
            <a:r>
              <a:rPr lang="pt-PT" sz="1600">
                <a:latin typeface="Gill Sans MT"/>
                <a:ea typeface="+mn-lt"/>
                <a:cs typeface="+mn-lt"/>
              </a:rPr>
              <a:t> Design</a:t>
            </a:r>
            <a:endParaRPr lang="pt-PT" sz="1600">
              <a:latin typeface="Gill Sans MT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pt-PT" sz="1600">
                <a:latin typeface="Gill Sans MT"/>
                <a:ea typeface="+mn-lt"/>
                <a:cs typeface="+mn-lt"/>
              </a:rPr>
              <a:t> ER </a:t>
            </a:r>
            <a:r>
              <a:rPr lang="pt-PT" sz="1600" err="1">
                <a:latin typeface="Gill Sans MT"/>
                <a:ea typeface="+mn-lt"/>
                <a:cs typeface="+mn-lt"/>
              </a:rPr>
              <a:t>and</a:t>
            </a:r>
            <a:r>
              <a:rPr lang="pt-PT" sz="1600">
                <a:latin typeface="Gill Sans MT"/>
                <a:ea typeface="+mn-lt"/>
                <a:cs typeface="+mn-lt"/>
              </a:rPr>
              <a:t> Classes </a:t>
            </a:r>
            <a:r>
              <a:rPr lang="pt-PT" sz="1600" err="1">
                <a:latin typeface="Gill Sans MT"/>
                <a:ea typeface="+mn-lt"/>
                <a:cs typeface="+mn-lt"/>
              </a:rPr>
              <a:t>Diagram</a:t>
            </a:r>
            <a:endParaRPr lang="pt-PT">
              <a:latin typeface="Gill Sans MT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+mn-lt"/>
                <a:cs typeface="+mn-lt"/>
              </a:rPr>
              <a:t>High-fidelity</a:t>
            </a:r>
            <a:r>
              <a:rPr lang="pt-PT" sz="1600">
                <a:latin typeface="Gill Sans MT"/>
                <a:ea typeface="+mn-lt"/>
                <a:cs typeface="+mn-lt"/>
              </a:rPr>
              <a:t> UI </a:t>
            </a:r>
            <a:r>
              <a:rPr lang="pt-PT" sz="1600" err="1">
                <a:latin typeface="Gill Sans MT"/>
                <a:ea typeface="+mn-lt"/>
                <a:cs typeface="+mn-lt"/>
              </a:rPr>
              <a:t>mockups</a:t>
            </a:r>
            <a:endParaRPr lang="pt-PT" err="1">
              <a:latin typeface="Gill Sans MT"/>
            </a:endParaRPr>
          </a:p>
          <a:p>
            <a:endParaRPr lang="pt-PT" sz="1600">
              <a:latin typeface="Gill Sans MT"/>
              <a:ea typeface="Calibri"/>
              <a:cs typeface="Calibri"/>
            </a:endParaRPr>
          </a:p>
        </p:txBody>
      </p:sp>
      <p:sp>
        <p:nvSpPr>
          <p:cNvPr id="2" name="Retângulo: Cantos Arredondados 14">
            <a:extLst>
              <a:ext uri="{FF2B5EF4-FFF2-40B4-BE49-F238E27FC236}">
                <a16:creationId xmlns:a16="http://schemas.microsoft.com/office/drawing/2014/main" id="{517CD05C-67B0-754F-1A23-EE6C9439C6DD}"/>
              </a:ext>
            </a:extLst>
          </p:cNvPr>
          <p:cNvSpPr/>
          <p:nvPr/>
        </p:nvSpPr>
        <p:spPr>
          <a:xfrm>
            <a:off x="681542" y="5250924"/>
            <a:ext cx="1965938" cy="136979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M3</a:t>
            </a:r>
            <a:endParaRPr lang="pt-PT"/>
          </a:p>
        </p:txBody>
      </p:sp>
      <p:sp>
        <p:nvSpPr>
          <p:cNvPr id="4" name="Retângulo: Cantos Arredondados 16">
            <a:extLst>
              <a:ext uri="{FF2B5EF4-FFF2-40B4-BE49-F238E27FC236}">
                <a16:creationId xmlns:a16="http://schemas.microsoft.com/office/drawing/2014/main" id="{BEC96082-ED16-CAF6-3D57-254A00DF9000}"/>
              </a:ext>
            </a:extLst>
          </p:cNvPr>
          <p:cNvSpPr/>
          <p:nvPr/>
        </p:nvSpPr>
        <p:spPr>
          <a:xfrm>
            <a:off x="3212249" y="5250924"/>
            <a:ext cx="2329095" cy="13697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14/10</a:t>
            </a:r>
            <a:r>
              <a:rPr lang="en-US" sz="2000">
                <a:latin typeface="Gill Sans MT"/>
                <a:ea typeface="+mn-lt"/>
                <a:cs typeface="+mn-lt"/>
              </a:rPr>
              <a:t> </a:t>
            </a:r>
            <a:r>
              <a:rPr lang="pt-PT" sz="2000">
                <a:latin typeface="Gill Sans MT"/>
                <a:ea typeface="+mn-lt"/>
                <a:cs typeface="+mn-lt"/>
              </a:rPr>
              <a:t>-</a:t>
            </a:r>
            <a:r>
              <a:rPr lang="en-US" sz="2000">
                <a:latin typeface="Gill Sans MT"/>
                <a:ea typeface="+mn-lt"/>
                <a:cs typeface="+mn-lt"/>
              </a:rPr>
              <a:t> </a:t>
            </a:r>
            <a:r>
              <a:rPr lang="pt-PT" sz="2000">
                <a:latin typeface="Gill Sans MT"/>
                <a:ea typeface="+mn-lt"/>
                <a:cs typeface="+mn-lt"/>
              </a:rPr>
              <a:t>03/11</a:t>
            </a:r>
            <a:endParaRPr lang="pt-PT"/>
          </a:p>
        </p:txBody>
      </p:sp>
      <p:sp>
        <p:nvSpPr>
          <p:cNvPr id="6" name="Retângulo: Cantos Arredondados 18">
            <a:extLst>
              <a:ext uri="{FF2B5EF4-FFF2-40B4-BE49-F238E27FC236}">
                <a16:creationId xmlns:a16="http://schemas.microsoft.com/office/drawing/2014/main" id="{E996E031-B17A-C8CE-A1C2-B78B87159ACB}"/>
              </a:ext>
            </a:extLst>
          </p:cNvPr>
          <p:cNvSpPr/>
          <p:nvPr/>
        </p:nvSpPr>
        <p:spPr>
          <a:xfrm>
            <a:off x="6027027" y="5205786"/>
            <a:ext cx="4516098" cy="140696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 sz="1600">
              <a:ea typeface="Calibri"/>
              <a:cs typeface="Calibri"/>
            </a:endParaRPr>
          </a:p>
        </p:txBody>
      </p:sp>
      <p:sp>
        <p:nvSpPr>
          <p:cNvPr id="7" name="CaixaDeTexto 20">
            <a:extLst>
              <a:ext uri="{FF2B5EF4-FFF2-40B4-BE49-F238E27FC236}">
                <a16:creationId xmlns:a16="http://schemas.microsoft.com/office/drawing/2014/main" id="{3C076283-B318-91CF-1D8D-7ED802E2855A}"/>
              </a:ext>
            </a:extLst>
          </p:cNvPr>
          <p:cNvSpPr txBox="1"/>
          <p:nvPr/>
        </p:nvSpPr>
        <p:spPr>
          <a:xfrm>
            <a:off x="6068121" y="5254578"/>
            <a:ext cx="4378960" cy="15696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pt-PT" sz="1600">
                <a:latin typeface="Gill Sans MT"/>
              </a:rPr>
              <a:t>UI </a:t>
            </a:r>
            <a:r>
              <a:rPr lang="pt-PT" sz="1600" err="1">
                <a:latin typeface="Gill Sans MT"/>
              </a:rPr>
              <a:t>implementation</a:t>
            </a:r>
            <a:endParaRPr lang="pt-PT" sz="1600" err="1">
              <a:latin typeface="Gill Sans MT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Gill Sans MT"/>
              </a:rPr>
              <a:t>Core </a:t>
            </a:r>
            <a:r>
              <a:rPr lang="pt-PT" sz="1600" err="1">
                <a:latin typeface="Gill Sans MT"/>
              </a:rPr>
              <a:t>functionalities</a:t>
            </a:r>
            <a:endParaRPr lang="pt-PT" err="1"/>
          </a:p>
          <a:p>
            <a:pPr marL="285750" indent="-285750">
              <a:buFont typeface="Arial"/>
              <a:buChar char="•"/>
            </a:pPr>
            <a:r>
              <a:rPr lang="pt-PT" sz="1600" err="1">
                <a:latin typeface="Gill Sans MT"/>
              </a:rPr>
              <a:t>Usability</a:t>
            </a:r>
            <a:r>
              <a:rPr lang="pt-PT" sz="1600">
                <a:latin typeface="Gill Sans MT"/>
              </a:rPr>
              <a:t> </a:t>
            </a:r>
            <a:r>
              <a:rPr lang="pt-PT" sz="1600" err="1">
                <a:latin typeface="Gill Sans MT"/>
              </a:rPr>
              <a:t>tests</a:t>
            </a:r>
            <a:endParaRPr lang="en-US" err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1600" err="1">
                <a:latin typeface="Gill Sans MT"/>
              </a:rPr>
              <a:t>Development</a:t>
            </a:r>
            <a:r>
              <a:rPr lang="pt-PT" sz="1600">
                <a:latin typeface="Gill Sans MT"/>
              </a:rPr>
              <a:t> </a:t>
            </a:r>
            <a:r>
              <a:rPr lang="pt-PT" sz="1600" err="1">
                <a:latin typeface="Gill Sans MT"/>
              </a:rPr>
              <a:t>environment</a:t>
            </a:r>
            <a:r>
              <a:rPr lang="pt-PT" sz="1600">
                <a:latin typeface="Gill Sans MT"/>
              </a:rPr>
              <a:t> </a:t>
            </a:r>
            <a:r>
              <a:rPr lang="pt-PT" sz="1600" err="1">
                <a:latin typeface="Gill Sans MT"/>
              </a:rPr>
              <a:t>setup</a:t>
            </a: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Gill Sans MT"/>
              </a:rPr>
              <a:t>CI/CD pipeline</a:t>
            </a:r>
          </a:p>
          <a:p>
            <a:pPr marL="285750" indent="-285750">
              <a:buFont typeface="Arial"/>
              <a:buChar char="•"/>
            </a:pPr>
            <a:endParaRPr lang="pt-PT" sz="160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532740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53F59-DFC5-948D-361F-3EED4E2B0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1037648-604D-E86D-39A9-8A71088B28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1EF58BFD-6E22-4FD6-D067-B0CD56827948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85800" y="12700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r>
              <a:rPr lang="en-US">
                <a:latin typeface="Gill Sans MT"/>
                <a:ea typeface="Calibri"/>
                <a:cs typeface="Calibri"/>
              </a:rPr>
              <a:t>Project Calendar</a:t>
            </a:r>
            <a:endParaRPr lang="en-US">
              <a:latin typeface="Gill Sans MT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79FFACB-31F6-8D82-6AE5-D419CDF1375C}"/>
              </a:ext>
            </a:extLst>
          </p:cNvPr>
          <p:cNvSpPr/>
          <p:nvPr/>
        </p:nvSpPr>
        <p:spPr>
          <a:xfrm>
            <a:off x="681542" y="1266345"/>
            <a:ext cx="1965938" cy="4978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 err="1">
                <a:latin typeface="Gill Sans MT"/>
                <a:ea typeface="+mn-lt"/>
                <a:cs typeface="+mn-lt"/>
              </a:rPr>
              <a:t>Milestone</a:t>
            </a:r>
            <a:endParaRPr lang="pt-PT" err="1">
              <a:ea typeface="Calibri"/>
              <a:cs typeface="Calibri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9E82CCF-AAF4-2C0B-5111-C8151A5CB3C8}"/>
              </a:ext>
            </a:extLst>
          </p:cNvPr>
          <p:cNvSpPr/>
          <p:nvPr/>
        </p:nvSpPr>
        <p:spPr>
          <a:xfrm>
            <a:off x="3221542" y="1276505"/>
            <a:ext cx="2301218" cy="4978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Date</a:t>
            </a:r>
            <a:endParaRPr lang="pt-PT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1DADBE4-0FBA-B21B-B96F-315AA7559AB9}"/>
              </a:ext>
            </a:extLst>
          </p:cNvPr>
          <p:cNvSpPr/>
          <p:nvPr/>
        </p:nvSpPr>
        <p:spPr>
          <a:xfrm>
            <a:off x="6027027" y="1277830"/>
            <a:ext cx="4516098" cy="48772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 err="1">
                <a:latin typeface="Gill Sans MT"/>
                <a:ea typeface="+mn-lt"/>
                <a:cs typeface="+mn-lt"/>
              </a:rPr>
              <a:t>Tasks</a:t>
            </a:r>
            <a:endParaRPr lang="pt-PT" err="1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A336535-DA10-E5DA-5402-FA386C049FEF}"/>
              </a:ext>
            </a:extLst>
          </p:cNvPr>
          <p:cNvSpPr/>
          <p:nvPr/>
        </p:nvSpPr>
        <p:spPr>
          <a:xfrm>
            <a:off x="681542" y="1917328"/>
            <a:ext cx="1965938" cy="181868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M4</a:t>
            </a:r>
            <a:endParaRPr lang="pt-PT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9F0359E-FBCD-0130-1C2E-FF9FE034493D}"/>
              </a:ext>
            </a:extLst>
          </p:cNvPr>
          <p:cNvSpPr/>
          <p:nvPr/>
        </p:nvSpPr>
        <p:spPr>
          <a:xfrm>
            <a:off x="3212249" y="1926621"/>
            <a:ext cx="2301218" cy="181868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04/11</a:t>
            </a:r>
            <a:r>
              <a:rPr lang="en-US" sz="2000">
                <a:latin typeface="Gill Sans MT"/>
                <a:ea typeface="+mn-lt"/>
                <a:cs typeface="+mn-lt"/>
              </a:rPr>
              <a:t> </a:t>
            </a:r>
            <a:r>
              <a:rPr lang="pt-PT" sz="2000">
                <a:latin typeface="Gill Sans MT"/>
                <a:ea typeface="+mn-lt"/>
                <a:cs typeface="+mn-lt"/>
              </a:rPr>
              <a:t>-</a:t>
            </a:r>
            <a:r>
              <a:rPr lang="en-US" sz="2000">
                <a:latin typeface="Gill Sans MT"/>
                <a:ea typeface="+mn-lt"/>
                <a:cs typeface="+mn-lt"/>
              </a:rPr>
              <a:t> </a:t>
            </a:r>
            <a:r>
              <a:rPr lang="pt-PT" sz="2000">
                <a:latin typeface="Gill Sans MT"/>
                <a:ea typeface="+mn-lt"/>
                <a:cs typeface="+mn-lt"/>
              </a:rPr>
              <a:t>15/12</a:t>
            </a:r>
            <a:endParaRPr lang="pt-PT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DCC24FFF-C7FE-46E3-DE92-D7B70D3306E9}"/>
              </a:ext>
            </a:extLst>
          </p:cNvPr>
          <p:cNvSpPr/>
          <p:nvPr/>
        </p:nvSpPr>
        <p:spPr>
          <a:xfrm>
            <a:off x="6027027" y="1927946"/>
            <a:ext cx="4516098" cy="181868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PT" sz="1600">
              <a:ea typeface="Calibri"/>
              <a:cs typeface="Calibri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2E0D256-1216-F9C7-2968-F55CE7B4C255}"/>
              </a:ext>
            </a:extLst>
          </p:cNvPr>
          <p:cNvSpPr txBox="1"/>
          <p:nvPr/>
        </p:nvSpPr>
        <p:spPr>
          <a:xfrm>
            <a:off x="6095998" y="1930274"/>
            <a:ext cx="437896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PT" sz="1600">
                <a:latin typeface="Gill Sans MT"/>
                <a:ea typeface="+mn-lt"/>
                <a:cs typeface="+mn-lt"/>
              </a:rPr>
              <a:t>MVP </a:t>
            </a:r>
            <a:r>
              <a:rPr lang="pt-PT" sz="1600" err="1">
                <a:latin typeface="Gill Sans MT"/>
                <a:ea typeface="+mn-lt"/>
                <a:cs typeface="+mn-lt"/>
              </a:rPr>
              <a:t>features</a:t>
            </a:r>
            <a:r>
              <a:rPr lang="pt-PT" sz="1600">
                <a:latin typeface="Gill Sans MT"/>
                <a:ea typeface="+mn-lt"/>
                <a:cs typeface="+mn-lt"/>
              </a:rPr>
              <a:t>:</a:t>
            </a:r>
          </a:p>
          <a:p>
            <a:pPr marL="742950" lvl="1" indent="-285750">
              <a:buFont typeface="Courier New"/>
              <a:buChar char="o"/>
            </a:pPr>
            <a:r>
              <a:rPr lang="pt-PT" sz="1600" err="1">
                <a:latin typeface="Gill Sans MT"/>
                <a:ea typeface="+mn-lt"/>
                <a:cs typeface="+mn-lt"/>
              </a:rPr>
              <a:t>Unified</a:t>
            </a:r>
            <a:r>
              <a:rPr lang="pt-PT" sz="1600">
                <a:latin typeface="Gill Sans MT"/>
                <a:ea typeface="+mn-lt"/>
                <a:cs typeface="+mn-lt"/>
              </a:rPr>
              <a:t> data </a:t>
            </a:r>
            <a:r>
              <a:rPr lang="pt-PT" sz="1600" err="1">
                <a:latin typeface="Gill Sans MT"/>
                <a:ea typeface="+mn-lt"/>
                <a:cs typeface="+mn-lt"/>
              </a:rPr>
              <a:t>ingestion</a:t>
            </a: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+mn-lt"/>
                <a:cs typeface="+mn-lt"/>
              </a:rPr>
              <a:t>engine</a:t>
            </a:r>
          </a:p>
          <a:p>
            <a:pPr marL="742950" lvl="1" indent="-285750">
              <a:buFont typeface="Courier New"/>
              <a:buChar char="o"/>
            </a:pPr>
            <a:r>
              <a:rPr lang="pt-PT" sz="1600">
                <a:latin typeface="Gill Sans MT"/>
                <a:ea typeface="+mn-lt"/>
                <a:cs typeface="+mn-lt"/>
              </a:rPr>
              <a:t>COP interface</a:t>
            </a:r>
          </a:p>
          <a:p>
            <a:pPr marL="742950" lvl="1" indent="-285750">
              <a:buFont typeface="Courier New"/>
              <a:buChar char="o"/>
            </a:pPr>
            <a:r>
              <a:rPr lang="pt-PT" sz="1600" err="1">
                <a:latin typeface="Gill Sans MT"/>
                <a:ea typeface="+mn-lt"/>
                <a:cs typeface="+mn-lt"/>
              </a:rPr>
              <a:t>Predictive</a:t>
            </a:r>
            <a:r>
              <a:rPr lang="pt-PT" sz="1600">
                <a:latin typeface="Gill Sans MT"/>
                <a:ea typeface="+mn-lt"/>
                <a:cs typeface="+mn-lt"/>
              </a:rPr>
              <a:t> AI</a:t>
            </a:r>
          </a:p>
          <a:p>
            <a:pPr marL="742950" lvl="1" indent="-285750">
              <a:buFont typeface="Courier New"/>
              <a:buChar char="o"/>
            </a:pPr>
            <a:r>
              <a:rPr lang="pt-PT" sz="1600" err="1">
                <a:latin typeface="Gill Sans MT"/>
                <a:ea typeface="+mn-lt"/>
                <a:cs typeface="+mn-lt"/>
              </a:rPr>
              <a:t>Automated</a:t>
            </a: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+mn-lt"/>
                <a:cs typeface="+mn-lt"/>
              </a:rPr>
              <a:t>recommendation</a:t>
            </a: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+mn-lt"/>
                <a:cs typeface="+mn-lt"/>
              </a:rPr>
              <a:t>system</a:t>
            </a:r>
            <a:endParaRPr lang="pt-PT" sz="1600">
              <a:latin typeface="Gill Sans MT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PT" sz="1600" err="1">
                <a:latin typeface="Gill Sans MT"/>
                <a:ea typeface="+mn-lt"/>
                <a:cs typeface="+mn-lt"/>
              </a:rPr>
              <a:t>Tests</a:t>
            </a:r>
            <a:r>
              <a:rPr lang="pt-PT" sz="1600">
                <a:latin typeface="Gill Sans MT"/>
                <a:ea typeface="+mn-lt"/>
                <a:cs typeface="+mn-lt"/>
              </a:rPr>
              <a:t> for QA</a:t>
            </a:r>
            <a:endParaRPr lang="pt-PT"/>
          </a:p>
          <a:p>
            <a:pPr marL="285750" indent="-285750">
              <a:buFont typeface="Arial"/>
              <a:buChar char="•"/>
            </a:pPr>
            <a:r>
              <a:rPr lang="pt-PT" sz="1600" err="1">
                <a:latin typeface="Gill Sans MT"/>
                <a:ea typeface="+mn-lt"/>
                <a:cs typeface="+mn-lt"/>
              </a:rPr>
              <a:t>Stabilization</a:t>
            </a: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Calibri"/>
                <a:cs typeface="Calibri"/>
              </a:rPr>
              <a:t>and</a:t>
            </a:r>
            <a:r>
              <a:rPr lang="pt-PT" sz="1600">
                <a:latin typeface="Gill Sans MT"/>
                <a:ea typeface="Calibri"/>
                <a:cs typeface="Calibri"/>
              </a:rPr>
              <a:t> </a:t>
            </a:r>
            <a:r>
              <a:rPr lang="pt-PT" sz="1600" err="1">
                <a:latin typeface="Gill Sans MT"/>
                <a:ea typeface="Calibri"/>
                <a:cs typeface="Calibri"/>
              </a:rPr>
              <a:t>deployment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EB634568-C955-4E5D-8696-BCEE10E69497}"/>
              </a:ext>
            </a:extLst>
          </p:cNvPr>
          <p:cNvSpPr/>
          <p:nvPr/>
        </p:nvSpPr>
        <p:spPr>
          <a:xfrm>
            <a:off x="681542" y="3957754"/>
            <a:ext cx="1965938" cy="132084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M5, ...</a:t>
            </a:r>
            <a:endParaRPr lang="pt-PT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6E64D048-3CE6-25C4-D074-FE092C974D80}"/>
              </a:ext>
            </a:extLst>
          </p:cNvPr>
          <p:cNvSpPr/>
          <p:nvPr/>
        </p:nvSpPr>
        <p:spPr>
          <a:xfrm>
            <a:off x="3212249" y="3948461"/>
            <a:ext cx="2301218" cy="13208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PT" sz="2000">
                <a:latin typeface="Gill Sans MT"/>
                <a:ea typeface="+mn-lt"/>
                <a:cs typeface="+mn-lt"/>
              </a:rPr>
              <a:t>15/</a:t>
            </a:r>
            <a:r>
              <a:rPr lang="en-US" sz="2000">
                <a:latin typeface="Gill Sans MT"/>
                <a:ea typeface="+mn-lt"/>
                <a:cs typeface="+mn-lt"/>
              </a:rPr>
              <a:t>12 </a:t>
            </a:r>
            <a:r>
              <a:rPr lang="pt-PT" sz="2000">
                <a:latin typeface="Gill Sans MT"/>
                <a:ea typeface="+mn-lt"/>
                <a:cs typeface="+mn-lt"/>
              </a:rPr>
              <a:t>-</a:t>
            </a:r>
            <a:r>
              <a:rPr lang="en-US" sz="2000">
                <a:latin typeface="Gill Sans MT"/>
                <a:ea typeface="+mn-lt"/>
                <a:cs typeface="+mn-lt"/>
              </a:rPr>
              <a:t> </a:t>
            </a:r>
            <a:r>
              <a:rPr lang="pt-PT" sz="2000">
                <a:latin typeface="Gill Sans MT"/>
                <a:ea typeface="+mn-lt"/>
                <a:cs typeface="+mn-lt"/>
              </a:rPr>
              <a:t>01/06/27</a:t>
            </a:r>
            <a:endParaRPr lang="pt-PT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B8F9CB4F-97D2-D2D7-0CB1-26FF287FBC75}"/>
              </a:ext>
            </a:extLst>
          </p:cNvPr>
          <p:cNvSpPr/>
          <p:nvPr/>
        </p:nvSpPr>
        <p:spPr>
          <a:xfrm>
            <a:off x="6017734" y="3949786"/>
            <a:ext cx="4516098" cy="132084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pt-PT" sz="1600">
              <a:ea typeface="Calibri"/>
              <a:cs typeface="Calibri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8B85276-E93F-C6DD-CBEF-86C696CE10FD}"/>
              </a:ext>
            </a:extLst>
          </p:cNvPr>
          <p:cNvSpPr txBox="1"/>
          <p:nvPr/>
        </p:nvSpPr>
        <p:spPr>
          <a:xfrm>
            <a:off x="6086704" y="3952113"/>
            <a:ext cx="437896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pt-PT" sz="1600" err="1">
                <a:latin typeface="Gill Sans MT"/>
                <a:ea typeface="+mn-lt"/>
                <a:cs typeface="+mn-lt"/>
              </a:rPr>
              <a:t>Further</a:t>
            </a: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+mn-lt"/>
                <a:cs typeface="+mn-lt"/>
              </a:rPr>
              <a:t>development</a:t>
            </a: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+mn-lt"/>
                <a:cs typeface="+mn-lt"/>
              </a:rPr>
              <a:t>and</a:t>
            </a:r>
            <a:r>
              <a:rPr lang="pt-PT" sz="1600">
                <a:latin typeface="Gill Sans MT"/>
                <a:ea typeface="+mn-lt"/>
                <a:cs typeface="+mn-lt"/>
              </a:rPr>
              <a:t> </a:t>
            </a:r>
            <a:r>
              <a:rPr lang="pt-PT" sz="1600" err="1">
                <a:latin typeface="Gill Sans MT"/>
                <a:ea typeface="+mn-lt"/>
                <a:cs typeface="+mn-lt"/>
              </a:rPr>
              <a:t>refining</a:t>
            </a:r>
            <a:endParaRPr lang="pt-PT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1600" err="1">
                <a:latin typeface="Gill Sans MT"/>
                <a:ea typeface="Calibri"/>
                <a:cs typeface="Calibri"/>
              </a:rPr>
              <a:t>Commercial</a:t>
            </a:r>
            <a:r>
              <a:rPr lang="pt-PT" sz="1600">
                <a:latin typeface="Gill Sans MT"/>
                <a:ea typeface="Calibri"/>
                <a:cs typeface="Calibri"/>
              </a:rPr>
              <a:t> </a:t>
            </a:r>
            <a:r>
              <a:rPr lang="pt-PT" sz="1600" err="1">
                <a:latin typeface="Gill Sans MT"/>
                <a:ea typeface="Calibri"/>
                <a:cs typeface="Calibri"/>
              </a:rPr>
              <a:t>video</a:t>
            </a:r>
            <a:endParaRPr lang="pt-PT" sz="1600">
              <a:latin typeface="Gill Sans MT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Gill Sans MT"/>
                <a:ea typeface="Calibri"/>
                <a:cs typeface="Calibri"/>
              </a:rPr>
              <a:t>Poster for </a:t>
            </a:r>
            <a:r>
              <a:rPr lang="pt-PT" sz="1600" err="1">
                <a:latin typeface="Gill Sans MT"/>
                <a:ea typeface="Calibri"/>
                <a:cs typeface="Calibri"/>
              </a:rPr>
              <a:t>Students@DETI</a:t>
            </a:r>
          </a:p>
          <a:p>
            <a:pPr marL="285750" indent="-285750">
              <a:buFont typeface="Arial"/>
              <a:buChar char="•"/>
            </a:pPr>
            <a:r>
              <a:rPr lang="pt-PT" sz="1600" err="1">
                <a:latin typeface="Gill Sans MT"/>
                <a:ea typeface="Calibri"/>
                <a:cs typeface="Calibri"/>
              </a:rPr>
              <a:t>Students@DETI</a:t>
            </a:r>
            <a:r>
              <a:rPr lang="pt-PT" sz="1600">
                <a:latin typeface="Gill Sans MT"/>
                <a:ea typeface="Calibri"/>
                <a:cs typeface="Calibri"/>
              </a:rPr>
              <a:t> </a:t>
            </a:r>
            <a:r>
              <a:rPr lang="pt-PT" sz="1600" err="1">
                <a:latin typeface="Gill Sans MT"/>
                <a:ea typeface="Calibri"/>
                <a:cs typeface="Calibri"/>
              </a:rPr>
              <a:t>demonstration</a:t>
            </a:r>
            <a:endParaRPr lang="pt-PT" err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pt-PT" sz="1600">
                <a:latin typeface="Gill Sans MT"/>
                <a:ea typeface="+mn-lt"/>
                <a:cs typeface="+mn-lt"/>
              </a:rPr>
              <a:t>Final </a:t>
            </a:r>
            <a:r>
              <a:rPr lang="pt-PT" sz="1600" err="1">
                <a:latin typeface="Gill Sans MT"/>
                <a:ea typeface="+mn-lt"/>
                <a:cs typeface="+mn-lt"/>
              </a:rPr>
              <a:t>Report</a:t>
            </a:r>
            <a:endParaRPr lang="pt-PT" sz="1600" err="1">
              <a:latin typeface="Gill Sans M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1073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r>
              <a:rPr lang="en-US">
                <a:latin typeface="Gill Sans MT"/>
                <a:ea typeface="Calibri"/>
                <a:cs typeface="Calibri"/>
              </a:rPr>
              <a:t>Communication Plan</a:t>
            </a:r>
            <a:endParaRPr lang="pt-PT">
              <a:latin typeface="Gill Sans M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44607" y="6006511"/>
            <a:ext cx="822960" cy="29260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C5F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Gill Sans MT"/>
              </a:rPr>
              <a:t>10</a:t>
            </a:fld>
            <a:endParaRPr lang="en-US">
              <a:latin typeface="Gill Sans MT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E15FB8-BAF3-F608-670E-79D6AF982B94}"/>
              </a:ext>
            </a:extLst>
          </p:cNvPr>
          <p:cNvGrpSpPr/>
          <p:nvPr/>
        </p:nvGrpSpPr>
        <p:grpSpPr>
          <a:xfrm>
            <a:off x="6079956" y="1777465"/>
            <a:ext cx="2821437" cy="2368617"/>
            <a:chOff x="5598694" y="1777465"/>
            <a:chExt cx="2821437" cy="2368617"/>
          </a:xfrm>
        </p:grpSpPr>
        <p:sp>
          <p:nvSpPr>
            <p:cNvPr id="27" name="Shape 1">
              <a:extLst>
                <a:ext uri="{FF2B5EF4-FFF2-40B4-BE49-F238E27FC236}">
                  <a16:creationId xmlns:a16="http://schemas.microsoft.com/office/drawing/2014/main" id="{C2D596D7-36C0-5302-8EE9-1594A44E3636}"/>
                </a:ext>
              </a:extLst>
            </p:cNvPr>
            <p:cNvSpPr/>
            <p:nvPr/>
          </p:nvSpPr>
          <p:spPr>
            <a:xfrm>
              <a:off x="5598694" y="1777465"/>
              <a:ext cx="2821437" cy="2368617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2700">
              <a:solidFill>
                <a:srgbClr val="C2BBAD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Text 2">
              <a:extLst>
                <a:ext uri="{FF2B5EF4-FFF2-40B4-BE49-F238E27FC236}">
                  <a16:creationId xmlns:a16="http://schemas.microsoft.com/office/drawing/2014/main" id="{946D72D8-455E-FC8D-499D-0E4173E593EB}"/>
                </a:ext>
              </a:extLst>
            </p:cNvPr>
            <p:cNvSpPr/>
            <p:nvPr/>
          </p:nvSpPr>
          <p:spPr>
            <a:xfrm>
              <a:off x="5716977" y="2171931"/>
              <a:ext cx="488481" cy="49851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A855F7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A855F7"/>
                  </a:solidFill>
                  <a:latin typeface="Gill Sans MT"/>
                  <a:ea typeface="Calibri"/>
                  <a:cs typeface="Calibri"/>
                </a:rPr>
                <a:t>3</a:t>
              </a:r>
            </a:p>
          </p:txBody>
        </p:sp>
        <p:sp>
          <p:nvSpPr>
            <p:cNvPr id="29" name="Text 3">
              <a:extLst>
                <a:ext uri="{FF2B5EF4-FFF2-40B4-BE49-F238E27FC236}">
                  <a16:creationId xmlns:a16="http://schemas.microsoft.com/office/drawing/2014/main" id="{6CEDC59D-6F9D-4412-F0AD-761CCD8F81AC}"/>
                </a:ext>
              </a:extLst>
            </p:cNvPr>
            <p:cNvSpPr txBox="1"/>
            <p:nvPr/>
          </p:nvSpPr>
          <p:spPr>
            <a:xfrm>
              <a:off x="6286939" y="2199901"/>
              <a:ext cx="1988984" cy="468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r>
                <a:rPr lang="en-US" sz="2000" b="1" err="1">
                  <a:solidFill>
                    <a:srgbClr val="161616"/>
                  </a:solidFill>
                  <a:latin typeface="Gill Sans MT"/>
                  <a:ea typeface="Calibri"/>
                  <a:cs typeface="Calibri"/>
                </a:rPr>
                <a:t>Students@DETI</a:t>
              </a:r>
              <a:endParaRPr lang="en-US" sz="2000">
                <a:latin typeface="Gill Sans MT"/>
              </a:endParaRPr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F3E638EE-FC27-7788-A20D-0D2C31A6B0F2}"/>
                </a:ext>
              </a:extLst>
            </p:cNvPr>
            <p:cNvSpPr txBox="1"/>
            <p:nvPr/>
          </p:nvSpPr>
          <p:spPr>
            <a:xfrm>
              <a:off x="5902828" y="2960609"/>
              <a:ext cx="2210233" cy="965735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/>
              <a:r>
                <a:rPr lang="en-US" sz="1600">
                  <a:solidFill>
                    <a:srgbClr val="5C5F66"/>
                  </a:solidFill>
                  <a:latin typeface="Gill Sans MT"/>
                  <a:ea typeface="Calibri"/>
                  <a:cs typeface="Calibri"/>
                </a:rPr>
                <a:t>Presentation with demonstration of the project.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8E0DB4-6999-A9C4-B0F1-6308D49516DD}"/>
              </a:ext>
            </a:extLst>
          </p:cNvPr>
          <p:cNvGrpSpPr/>
          <p:nvPr/>
        </p:nvGrpSpPr>
        <p:grpSpPr>
          <a:xfrm>
            <a:off x="184483" y="1777464"/>
            <a:ext cx="2821437" cy="2368617"/>
            <a:chOff x="5598694" y="1777465"/>
            <a:chExt cx="2821437" cy="2368617"/>
          </a:xfrm>
        </p:grpSpPr>
        <p:sp>
          <p:nvSpPr>
            <p:cNvPr id="33" name="Shape 1">
              <a:extLst>
                <a:ext uri="{FF2B5EF4-FFF2-40B4-BE49-F238E27FC236}">
                  <a16:creationId xmlns:a16="http://schemas.microsoft.com/office/drawing/2014/main" id="{BB235AED-C6AB-D7DD-CF29-48C790654577}"/>
                </a:ext>
              </a:extLst>
            </p:cNvPr>
            <p:cNvSpPr/>
            <p:nvPr/>
          </p:nvSpPr>
          <p:spPr>
            <a:xfrm>
              <a:off x="5598694" y="1777465"/>
              <a:ext cx="2821437" cy="2368617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2700">
              <a:solidFill>
                <a:srgbClr val="C2BBAD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Text 2">
              <a:extLst>
                <a:ext uri="{FF2B5EF4-FFF2-40B4-BE49-F238E27FC236}">
                  <a16:creationId xmlns:a16="http://schemas.microsoft.com/office/drawing/2014/main" id="{748775DA-F8CA-57CC-12E8-6D138632A93C}"/>
                </a:ext>
              </a:extLst>
            </p:cNvPr>
            <p:cNvSpPr/>
            <p:nvPr/>
          </p:nvSpPr>
          <p:spPr>
            <a:xfrm>
              <a:off x="5856367" y="2182596"/>
              <a:ext cx="488481" cy="49851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E9E86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0E9E86"/>
                  </a:solidFill>
                  <a:latin typeface="Gill Sans MT"/>
                  <a:ea typeface="Calibri"/>
                  <a:cs typeface="Calibri"/>
                </a:rPr>
                <a:t>1</a:t>
              </a:r>
            </a:p>
          </p:txBody>
        </p:sp>
        <p:sp>
          <p:nvSpPr>
            <p:cNvPr id="35" name="Text 3">
              <a:extLst>
                <a:ext uri="{FF2B5EF4-FFF2-40B4-BE49-F238E27FC236}">
                  <a16:creationId xmlns:a16="http://schemas.microsoft.com/office/drawing/2014/main" id="{595258DD-5DC1-CAD1-0D92-0F4D46D8572D}"/>
                </a:ext>
              </a:extLst>
            </p:cNvPr>
            <p:cNvSpPr txBox="1"/>
            <p:nvPr/>
          </p:nvSpPr>
          <p:spPr>
            <a:xfrm>
              <a:off x="6270955" y="2202648"/>
              <a:ext cx="1468195" cy="468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>
                  <a:solidFill>
                    <a:srgbClr val="161616"/>
                  </a:solidFill>
                  <a:latin typeface="Gill Sans MT"/>
                  <a:ea typeface="Calibri"/>
                  <a:cs typeface="Calibri"/>
                </a:rPr>
                <a:t>Website</a:t>
              </a:r>
              <a:endParaRPr lang="en-US" sz="2000">
                <a:latin typeface="Gill Sans MT"/>
              </a:endParaRPr>
            </a:p>
          </p:txBody>
        </p:sp>
        <p:sp>
          <p:nvSpPr>
            <p:cNvPr id="36" name="Text 4">
              <a:extLst>
                <a:ext uri="{FF2B5EF4-FFF2-40B4-BE49-F238E27FC236}">
                  <a16:creationId xmlns:a16="http://schemas.microsoft.com/office/drawing/2014/main" id="{32AE0FF1-595F-A39C-CB9B-E0B4BD44D97E}"/>
                </a:ext>
              </a:extLst>
            </p:cNvPr>
            <p:cNvSpPr txBox="1"/>
            <p:nvPr/>
          </p:nvSpPr>
          <p:spPr>
            <a:xfrm>
              <a:off x="5902828" y="2956273"/>
              <a:ext cx="2210233" cy="965735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/>
              <a:r>
                <a:rPr lang="en-US" sz="1600">
                  <a:solidFill>
                    <a:srgbClr val="5C5F66"/>
                  </a:solidFill>
                  <a:latin typeface="Gill Sans MT"/>
                  <a:ea typeface="Calibri"/>
                  <a:cs typeface="Calibri"/>
                </a:rPr>
                <a:t>Includes an overview of the project, as well as documentation and links to our repositories</a:t>
              </a:r>
              <a:endParaRPr lang="pt-PT" sz="1600">
                <a:solidFill>
                  <a:srgbClr val="5C5F66"/>
                </a:solidFill>
                <a:latin typeface="Gill Sans MT"/>
                <a:ea typeface="Calibri"/>
                <a:cs typeface="Calibri"/>
              </a:endParaRPr>
            </a:p>
            <a:p>
              <a:pPr algn="ctr"/>
              <a:endParaRPr lang="en-US" sz="1600">
                <a:solidFill>
                  <a:srgbClr val="5C5F66"/>
                </a:solidFill>
                <a:latin typeface="Gill Sans MT"/>
                <a:ea typeface="Calibri"/>
                <a:cs typeface="Calibri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5133493-5522-379B-B038-47797CBEAE0E}"/>
              </a:ext>
            </a:extLst>
          </p:cNvPr>
          <p:cNvGrpSpPr/>
          <p:nvPr/>
        </p:nvGrpSpPr>
        <p:grpSpPr>
          <a:xfrm>
            <a:off x="3152272" y="1777465"/>
            <a:ext cx="2821437" cy="2368617"/>
            <a:chOff x="5598694" y="1777465"/>
            <a:chExt cx="2821437" cy="2368617"/>
          </a:xfrm>
        </p:grpSpPr>
        <p:sp>
          <p:nvSpPr>
            <p:cNvPr id="38" name="Shape 1">
              <a:extLst>
                <a:ext uri="{FF2B5EF4-FFF2-40B4-BE49-F238E27FC236}">
                  <a16:creationId xmlns:a16="http://schemas.microsoft.com/office/drawing/2014/main" id="{D5D058D3-8477-FB05-CFB7-F13D5095BCCB}"/>
                </a:ext>
              </a:extLst>
            </p:cNvPr>
            <p:cNvSpPr/>
            <p:nvPr/>
          </p:nvSpPr>
          <p:spPr>
            <a:xfrm>
              <a:off x="5598694" y="1777465"/>
              <a:ext cx="2821437" cy="2368617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2700">
              <a:solidFill>
                <a:srgbClr val="C2BBAD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Text 2">
              <a:extLst>
                <a:ext uri="{FF2B5EF4-FFF2-40B4-BE49-F238E27FC236}">
                  <a16:creationId xmlns:a16="http://schemas.microsoft.com/office/drawing/2014/main" id="{E087DC1E-0454-940A-759B-A595EB8AEB10}"/>
                </a:ext>
              </a:extLst>
            </p:cNvPr>
            <p:cNvSpPr/>
            <p:nvPr/>
          </p:nvSpPr>
          <p:spPr>
            <a:xfrm>
              <a:off x="5884245" y="2173304"/>
              <a:ext cx="488481" cy="49851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60A5FA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60A5FA"/>
                  </a:solidFill>
                  <a:latin typeface="Gill Sans MT"/>
                  <a:ea typeface="Calibri"/>
                  <a:cs typeface="Calibri"/>
                </a:rPr>
                <a:t>2</a:t>
              </a:r>
            </a:p>
          </p:txBody>
        </p:sp>
        <p:sp>
          <p:nvSpPr>
            <p:cNvPr id="40" name="Text 3">
              <a:extLst>
                <a:ext uri="{FF2B5EF4-FFF2-40B4-BE49-F238E27FC236}">
                  <a16:creationId xmlns:a16="http://schemas.microsoft.com/office/drawing/2014/main" id="{7F77F9EE-29A6-2B9C-918C-D5BCA3CE78D4}"/>
                </a:ext>
              </a:extLst>
            </p:cNvPr>
            <p:cNvSpPr txBox="1"/>
            <p:nvPr/>
          </p:nvSpPr>
          <p:spPr>
            <a:xfrm>
              <a:off x="6586907" y="2211940"/>
              <a:ext cx="862705" cy="43835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>
                  <a:solidFill>
                    <a:srgbClr val="161616"/>
                  </a:solidFill>
                  <a:latin typeface="Gill Sans MT"/>
                  <a:ea typeface="Calibri"/>
                  <a:cs typeface="Calibri"/>
                </a:rPr>
                <a:t>Events</a:t>
              </a:r>
            </a:p>
          </p:txBody>
        </p:sp>
        <p:sp>
          <p:nvSpPr>
            <p:cNvPr id="41" name="Text 4">
              <a:extLst>
                <a:ext uri="{FF2B5EF4-FFF2-40B4-BE49-F238E27FC236}">
                  <a16:creationId xmlns:a16="http://schemas.microsoft.com/office/drawing/2014/main" id="{ABBA65FB-0EEB-276F-FB80-11EDF3C0C6A4}"/>
                </a:ext>
              </a:extLst>
            </p:cNvPr>
            <p:cNvSpPr txBox="1"/>
            <p:nvPr/>
          </p:nvSpPr>
          <p:spPr>
            <a:xfrm>
              <a:off x="5884243" y="2966185"/>
              <a:ext cx="2210233" cy="965735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/>
              <a:r>
                <a:rPr lang="en-US" sz="1600">
                  <a:solidFill>
                    <a:srgbClr val="5C5F66"/>
                  </a:solidFill>
                  <a:latin typeface="Gill Sans MT"/>
                  <a:ea typeface="Calibri"/>
                  <a:cs typeface="Calibri"/>
                </a:rPr>
                <a:t>Participation in events: exhibitions and competitions (e.g.,  Think Tank)</a:t>
              </a:r>
              <a:endParaRPr lang="en-US">
                <a:ea typeface="Calibri"/>
                <a:cs typeface="Calibri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87CB6ED-86D4-9880-44E6-0E5A1532E095}"/>
              </a:ext>
            </a:extLst>
          </p:cNvPr>
          <p:cNvGrpSpPr/>
          <p:nvPr/>
        </p:nvGrpSpPr>
        <p:grpSpPr>
          <a:xfrm>
            <a:off x="9027692" y="1777464"/>
            <a:ext cx="2821437" cy="2368617"/>
            <a:chOff x="5598694" y="1777465"/>
            <a:chExt cx="2821437" cy="2368617"/>
          </a:xfrm>
        </p:grpSpPr>
        <p:sp>
          <p:nvSpPr>
            <p:cNvPr id="43" name="Shape 1">
              <a:extLst>
                <a:ext uri="{FF2B5EF4-FFF2-40B4-BE49-F238E27FC236}">
                  <a16:creationId xmlns:a16="http://schemas.microsoft.com/office/drawing/2014/main" id="{C44A87B0-1F75-4E77-5E2E-ED9F9BBAF542}"/>
                </a:ext>
              </a:extLst>
            </p:cNvPr>
            <p:cNvSpPr/>
            <p:nvPr/>
          </p:nvSpPr>
          <p:spPr>
            <a:xfrm>
              <a:off x="5598694" y="1777465"/>
              <a:ext cx="2821437" cy="2368617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2700">
              <a:solidFill>
                <a:srgbClr val="C2BBAD"/>
              </a:solidFill>
              <a:prstDash val="solid"/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4" name="Text 2">
              <a:extLst>
                <a:ext uri="{FF2B5EF4-FFF2-40B4-BE49-F238E27FC236}">
                  <a16:creationId xmlns:a16="http://schemas.microsoft.com/office/drawing/2014/main" id="{6BDF0963-2214-441F-E3E6-9FEDD82E88A7}"/>
                </a:ext>
              </a:extLst>
            </p:cNvPr>
            <p:cNvSpPr/>
            <p:nvPr/>
          </p:nvSpPr>
          <p:spPr>
            <a:xfrm>
              <a:off x="5884245" y="2173304"/>
              <a:ext cx="488481" cy="49851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50506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050506"/>
                  </a:solidFill>
                  <a:latin typeface="Gill Sans MT"/>
                  <a:ea typeface="Calibri"/>
                  <a:cs typeface="Calibri"/>
                </a:rPr>
                <a:t>4</a:t>
              </a:r>
            </a:p>
          </p:txBody>
        </p:sp>
        <p:sp>
          <p:nvSpPr>
            <p:cNvPr id="45" name="Text 3">
              <a:extLst>
                <a:ext uri="{FF2B5EF4-FFF2-40B4-BE49-F238E27FC236}">
                  <a16:creationId xmlns:a16="http://schemas.microsoft.com/office/drawing/2014/main" id="{A43EC6E7-A484-8BB9-3807-437C31151CB9}"/>
                </a:ext>
              </a:extLst>
            </p:cNvPr>
            <p:cNvSpPr txBox="1"/>
            <p:nvPr/>
          </p:nvSpPr>
          <p:spPr>
            <a:xfrm>
              <a:off x="6586907" y="2193355"/>
              <a:ext cx="853413" cy="468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>
                  <a:solidFill>
                    <a:srgbClr val="161616"/>
                  </a:solidFill>
                  <a:latin typeface="Gill Sans MT"/>
                  <a:ea typeface="Calibri"/>
                  <a:cs typeface="Calibri"/>
                </a:rPr>
                <a:t>Other</a:t>
              </a:r>
              <a:endParaRPr lang="en-US" sz="2000">
                <a:latin typeface="Gill Sans MT"/>
              </a:endParaRPr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CACF73E2-5C4F-5563-6CED-F2FFC974F112}"/>
                </a:ext>
              </a:extLst>
            </p:cNvPr>
            <p:cNvSpPr txBox="1"/>
            <p:nvPr/>
          </p:nvSpPr>
          <p:spPr>
            <a:xfrm>
              <a:off x="5884243" y="2966185"/>
              <a:ext cx="2210233" cy="965735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ctr"/>
              <a:r>
                <a:rPr lang="en-US" sz="1600">
                  <a:solidFill>
                    <a:srgbClr val="5C5F66"/>
                  </a:solidFill>
                  <a:latin typeface="Gill Sans MT"/>
                  <a:ea typeface="Calibri"/>
                  <a:cs typeface="Calibri"/>
                </a:rPr>
                <a:t>Meetings with emergency and security agencies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685800" y="192024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>
                <a:solidFill>
                  <a:srgbClr val="161616"/>
                </a:solidFill>
                <a:latin typeface="Gill Sans MT"/>
              </a:rPr>
              <a:t>Thank you</a:t>
            </a:r>
            <a:endParaRPr lang="en-US" sz="4400">
              <a:latin typeface="Gill Sans MT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685800" y="3611880"/>
            <a:ext cx="5221356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spcBef>
                <a:spcPts val="1400"/>
              </a:spcBef>
              <a:spcAft>
                <a:spcPts val="100"/>
              </a:spcAft>
            </a:pPr>
            <a:r>
              <a:rPr lang="en-US">
                <a:latin typeface="Calibri"/>
                <a:ea typeface="Calibri"/>
                <a:cs typeface="Calibri"/>
              </a:rPr>
              <a:t>Email: </a:t>
            </a:r>
            <a:r>
              <a:rPr lang="en-US"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adomnia.inperpetuum@gmail.com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>
                <a:latin typeface="Calibri"/>
                <a:ea typeface="Calibri"/>
                <a:cs typeface="Calibri"/>
              </a:rPr>
              <a:t>GitHub: </a:t>
            </a:r>
            <a:r>
              <a:rPr lang="en-US"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https://github.com/Ad-Omnia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>
                <a:latin typeface="Calibri"/>
                <a:ea typeface="Calibri"/>
                <a:cs typeface="Calibri"/>
              </a:rPr>
              <a:t>Website: </a:t>
            </a:r>
            <a:r>
              <a:rPr lang="en-US" u="sng">
                <a:latin typeface="Calibri"/>
                <a:ea typeface="Calibri"/>
                <a:cs typeface="Calibri"/>
              </a:rPr>
              <a:t>https://ad-omnia.github.io</a:t>
            </a:r>
            <a:r>
              <a:rPr lang="pt-PT" u="sng">
                <a:latin typeface="Calibri"/>
                <a:ea typeface="Calibri"/>
                <a:cs typeface="Calibri"/>
              </a:rPr>
              <a:t>/</a:t>
            </a:r>
            <a:endParaRPr lang="en-US" u="sng"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 descr="Ficheiro:UA Logo e Símbolo.png – Wikipédia, a enciclopédia livre">
            <a:extLst>
              <a:ext uri="{FF2B5EF4-FFF2-40B4-BE49-F238E27FC236}">
                <a16:creationId xmlns:a16="http://schemas.microsoft.com/office/drawing/2014/main" id="{AD7C6EA8-76C2-268F-75ED-92AFE989A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550" y="6308066"/>
            <a:ext cx="1791240" cy="431321"/>
          </a:xfrm>
          <a:prstGeom prst="rect">
            <a:avLst/>
          </a:prstGeom>
        </p:spPr>
      </p:pic>
      <p:pic>
        <p:nvPicPr>
          <p:cNvPr id="7" name="Picture 6" descr="Building Resilient Communications for Distributed Systems Applications:  From Blockchain to Autonomous Vehicles and 5G V2X : vTools Events | vTools  IEEE">
            <a:extLst>
              <a:ext uri="{FF2B5EF4-FFF2-40B4-BE49-F238E27FC236}">
                <a16:creationId xmlns:a16="http://schemas.microsoft.com/office/drawing/2014/main" id="{AA64B2BD-AFFB-9953-CD8A-B6E1B250A3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0647" y="6180557"/>
            <a:ext cx="2123178" cy="70071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ABBC130-BB4A-C1EE-DC03-5CEFA3D8B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4997" y="1917777"/>
            <a:ext cx="3291933" cy="3264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ens">
      <a:dk1>
        <a:sysClr val="windowText" lastClr="000000"/>
      </a:dk1>
      <a:lt1>
        <a:sysClr val="window" lastClr="FFFFFF"/>
      </a:lt1>
      <a:dk2>
        <a:srgbClr val="161616"/>
      </a:dk2>
      <a:lt2>
        <a:srgbClr val="F4F2EC"/>
      </a:lt2>
      <a:accent1>
        <a:srgbClr val="2B6FE0"/>
      </a:accent1>
      <a:accent2>
        <a:srgbClr val="0E9E86"/>
      </a:accent2>
      <a:accent3>
        <a:srgbClr val="8B35E0"/>
      </a:accent3>
      <a:accent4>
        <a:srgbClr val="3D8BFF"/>
      </a:accent4>
      <a:accent5>
        <a:srgbClr val="2EC4AA"/>
      </a:accent5>
      <a:accent6>
        <a:srgbClr val="A03CFF"/>
      </a:accent6>
      <a:hlink>
        <a:srgbClr val="2B6FE0"/>
      </a:hlink>
      <a:folHlink>
        <a:srgbClr val="8B35E0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ens">
      <a:dk1>
        <a:sysClr val="windowText" lastClr="000000"/>
      </a:dk1>
      <a:lt1>
        <a:sysClr val="window" lastClr="FFFFFF"/>
      </a:lt1>
      <a:dk2>
        <a:srgbClr val="161616"/>
      </a:dk2>
      <a:lt2>
        <a:srgbClr val="F4F2EC"/>
      </a:lt2>
      <a:accent1>
        <a:srgbClr val="2B6FE0"/>
      </a:accent1>
      <a:accent2>
        <a:srgbClr val="0E9E86"/>
      </a:accent2>
      <a:accent3>
        <a:srgbClr val="8B35E0"/>
      </a:accent3>
      <a:accent4>
        <a:srgbClr val="3D8BFF"/>
      </a:accent4>
      <a:accent5>
        <a:srgbClr val="2EC4AA"/>
      </a:accent5>
      <a:accent6>
        <a:srgbClr val="A03CFF"/>
      </a:accent6>
      <a:hlink>
        <a:srgbClr val="2B6FE0"/>
      </a:hlink>
      <a:folHlink>
        <a:srgbClr val="8B35E0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Ad Omnia</vt:lpstr>
      <vt:lpstr>Context &amp; Problem</vt:lpstr>
      <vt:lpstr>Goals</vt:lpstr>
      <vt:lpstr>Expected results</vt:lpstr>
      <vt:lpstr>The team</vt:lpstr>
      <vt:lpstr>State of the Art</vt:lpstr>
      <vt:lpstr>High-Level Architecture</vt:lpstr>
      <vt:lpstr>Project Calendar</vt:lpstr>
      <vt:lpstr>Project Calendar</vt:lpstr>
      <vt:lpstr>Communication Plan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Lens slide template</dc:title>
  <dc:subject>PptxGenJS Presentation</dc:subject>
  <dc:creator>PptxGenJS</dc:creator>
  <cp:revision>10</cp:revision>
  <dcterms:created xsi:type="dcterms:W3CDTF">2026-09-26T11:00:00Z</dcterms:created>
  <dcterms:modified xsi:type="dcterms:W3CDTF">2026-09-29T10:34:52Z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2126A79468764229ABD5A17154AEA4C5_11</vt:lpwstr>
  </property>
  <property fmtid="{D5CDD505-2E9C-101B-9397-08002B2CF9AE}" pid="3" name="KSOProductBuildVer">
    <vt:lpwstr>2070-12.1.0.28485</vt:lpwstr>
  </property>
</Properties>
</file>