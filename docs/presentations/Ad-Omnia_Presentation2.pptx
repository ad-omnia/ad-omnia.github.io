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62" r:id="rId3"/>
    <p:sldId id="258" r:id="rId4"/>
    <p:sldId id="259" r:id="rId5"/>
    <p:sldId id="266" r:id="rId6"/>
    <p:sldId id="267" r:id="rId7"/>
    <p:sldId id="268" r:id="rId8"/>
    <p:sldId id="280" r:id="rId9"/>
    <p:sldId id="269" r:id="rId10"/>
    <p:sldId id="274" r:id="rId11"/>
    <p:sldId id="271" r:id="rId12"/>
    <p:sldId id="285" r:id="rId13"/>
    <p:sldId id="286" r:id="rId14"/>
    <p:sldId id="273" r:id="rId15"/>
    <p:sldId id="275" r:id="rId16"/>
    <p:sldId id="276" r:id="rId17"/>
    <p:sldId id="278" r:id="rId18"/>
    <p:sldId id="279" r:id="rId19"/>
    <p:sldId id="277" r:id="rId20"/>
    <p:sldId id="281" r:id="rId21"/>
    <p:sldId id="26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2ED"/>
    <a:srgbClr val="DFCFFF"/>
    <a:srgbClr val="D1A3FF"/>
    <a:srgbClr val="99B5E0"/>
    <a:srgbClr val="1BA18A"/>
    <a:srgbClr val="179C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977" dt="2026-10-11T12:22:17.232"/>
    <p1510:client id="{2228B8A6-74E4-4AE0-9F4B-33CB4D3E46FB}" v="237" dt="2026-10-10T16:48:16.219"/>
    <p1510:client id="{3894937D-4512-82C4-F735-E9BEC4A653E5}" v="1" dt="2026-10-11T10:35:52.102"/>
    <p1510:client id="{47C79254-91BE-0DF4-4AD7-A4E420B8A600}" v="29" dt="2026-10-10T15:55:49.364"/>
    <p1510:client id="{678F0E40-E153-73A1-B36E-08CCBD4651A8}" v="56" dt="2026-10-11T11:57:23.908"/>
    <p1510:client id="{69EDEC5E-09BC-5B5D-F708-E32836166381}" v="14" dt="2026-10-11T12:29:37.525"/>
    <p1510:client id="{985B8BD0-3D2E-DC31-9AAB-EA342FFE4B93}" v="1" dt="2026-10-11T08:28:06.886"/>
    <p1510:client id="{AC109A28-1FD0-DFC8-9761-0176FF024795}" v="16" dt="2026-10-10T15:57:33.460"/>
    <p1510:client id="{AFC82AB0-7C11-F718-776C-3BA2227337C3}" v="56" dt="2026-10-10T19:03:12.493"/>
    <p1510:client id="{DBF2C107-1E13-938F-A394-1043324F8D87}" v="636" dt="2026-10-11T12:21:37.961"/>
    <p1510:client id="{DEA82186-554C-47E8-DAFB-E2101A96F5F9}" v="1" dt="2026-10-11T13:17:48.632"/>
    <p1510:client id="{F15FC8E5-38C5-35C4-4704-C619D0DF6CFE}" v="1" dt="2026-10-11T12:26:52.602"/>
    <p1510:client id="{F9F4A486-8464-594F-86A6-36C3F74156D6}" v="59" dt="2026-10-11T13:17:17.8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00758-127A-44AD-9781-CAAE476D5828}" type="datetimeFigureOut"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A20FD2-7605-4A11-ADCD-4187F22916A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05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7361-ADF4-36B9-94CA-1D5BD4334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104DB-D828-9292-7230-64128121B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C7E1B-13E4-50D1-B887-C61EAA848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1ADE0-FA1F-B4F6-0D9A-29976DE7C4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35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2220F-8744-29DB-A3A4-2C7C45E27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25376-5A86-791F-672F-6A8A1482E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E88649-6CB2-448F-0631-73A9F2AB3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3DFD5-AD82-0563-B4D6-FEBD53B681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02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453CD-B50C-04E5-8D4A-EF1FDDFF9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D62B4-CD83-0450-9E57-2C739BC9F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FE41B7-B3D1-BE9E-5C5C-273430E64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BB166-AAA7-1609-8E7B-61A46E397F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5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A7A64-FDD7-1094-A68E-C93B6868E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971780-DB10-F1FF-60FE-8D25A6C91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CC2F9-194C-D5B8-AE73-5A821CFD1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21A3F-8E8C-4090-C07B-65845CB2E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76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7D58B-685C-ED7E-73DC-840DFD334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4086D-495F-12BD-7D4B-861338B81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BF46F-F74E-ECDD-680F-2B666ABB8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2F5B5-DEF3-52B4-8B3E-0364B3BDD1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124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9159D-F48D-9A7C-388C-C1675CF94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29B50-F962-9E64-C7DD-4C39BF9A8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19E73-8D13-1298-8605-B8E6F5F72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5E8D1-756C-8911-9470-C5C6317867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64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3AEE8-1781-D16C-64D3-C6AC3C43D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A2DD6-A523-AA52-D024-FF2542834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E2ADD-6752-3788-EBFC-09E2921ED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2B217-F7A0-A517-8FD2-241BA67B21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45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203B6-FC4E-DF24-7348-21CAA7F45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3C93AA-817D-20E2-C628-9B8537197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306A5-8696-D3EA-D6FA-311BF329B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5461F-3E9D-678A-5CBA-550563A73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174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36AA6-8DD1-BA46-F479-60B089C97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D4BA0-DC1D-FCC8-EDED-D4620B715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9580E-030E-EC7E-57DD-123D3177E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826CE-B4D6-FD65-B407-29F44B2E10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35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5B323-E078-67EE-1DE8-79783C743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91555-F77B-23C7-C317-EBE9BD74B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260A4-A564-55C7-308E-5EF212EF7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30A54-A5B0-9F8D-4024-E5CC741F04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720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14602-36A5-5C54-56AE-971C4D2A5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B2939-8E80-3153-AF64-22238EBD2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F62BD-4342-72C9-8375-34A8078A1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6736B-5215-4902-108E-3072FE15BD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5351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7FB7D-E63E-BBA5-A8F2-9F841B9EE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FF324-FCFC-5E7A-CA8D-4117815CF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BBCDA-753E-BE09-4BB9-F7CFB945A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3BA37-5005-17EA-D37C-7CC0C7321D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9590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B2D19-2928-AA5D-3BFC-B43C80FC6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E96AE-F60C-17CA-5D9F-C9D4055C9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7843A-7B57-354C-22F4-C4F06A906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647D8-8501-CDA7-619F-9B76DB85EB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548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68C9C-7A05-8145-06DF-A2E99C9DE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482A2-EFD5-22FC-A421-5EDCA0B1D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FC0AA-79F5-2033-F4B7-39F017108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1AB0A-9AE8-FA1E-F766-FBF985E820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7605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1D8A-61C5-98A3-2BC5-B84049B25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52914-08B4-2E5D-33C7-47163033EB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93CB3-89C5-D12A-9055-D3107F8B9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129B9-A938-B2C0-8ED4-98FA28BF49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781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800" y="3302000"/>
            <a:ext cx="4572000" cy="317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1600" dirty="0">
                <a:solidFill>
                  <a:srgbClr val="5C5F66"/>
                </a:solidFill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600">
                <a:solidFill>
                  <a:srgbClr val="5C5F66"/>
                </a:solidFill>
              </a:rPr>
              <a:t>Text</a:t>
            </a:r>
            <a:endParaRPr lang="en-US" sz="160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00" y="3683000"/>
            <a:ext cx="48260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8000" b="1" dirty="0">
                <a:solidFill>
                  <a:srgbClr val="161616"/>
                </a:solidFill>
              </a:defRPr>
            </a:lvl1pPr>
          </a:lstStyle>
          <a:p>
            <a:pPr marL="0" indent="0" algn="l">
              <a:buNone/>
            </a:pPr>
            <a:r>
              <a:rPr lang="en-US" sz="8000" b="1">
                <a:solidFill>
                  <a:srgbClr val="161616"/>
                </a:solidFill>
              </a:rPr>
              <a:t>Slide title</a:t>
            </a:r>
            <a:endParaRPr lang="en-US" sz="80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00" y="5016500"/>
            <a:ext cx="45720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2200" dirty="0">
                <a:solidFill>
                  <a:srgbClr val="5C5F66"/>
                </a:solidFill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200">
                <a:solidFill>
                  <a:srgbClr val="5C5F66"/>
                </a:solidFill>
              </a:rPr>
              <a:t>Text</a:t>
            </a:r>
            <a:endParaRPr lang="en-US" sz="22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350" y="5956300"/>
            <a:ext cx="609600" cy="62865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12800" y="1778000"/>
            <a:ext cx="5080000" cy="1397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10000" dirty="0">
                <a:solidFill>
                  <a:srgbClr val="256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0000">
                <a:solidFill>
                  <a:srgbClr val="2563D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</a:t>
            </a:r>
            <a:endParaRPr lang="en-US" sz="1000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812800" y="3302000"/>
            <a:ext cx="10566400" cy="76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rgbClr val="161616"/>
                </a:solidFill>
              </a:defRPr>
            </a:lvl1pPr>
          </a:lstStyle>
          <a:p>
            <a:pPr marL="0" indent="0" algn="l">
              <a:buNone/>
            </a:pPr>
            <a:r>
              <a:rPr lang="en-US" sz="4800" b="1">
                <a:solidFill>
                  <a:srgbClr val="161616"/>
                </a:solidFill>
              </a:rPr>
              <a:t>Slide title</a:t>
            </a:r>
            <a:endParaRPr lang="en-US" sz="480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812800" y="4127500"/>
            <a:ext cx="7620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2000" dirty="0">
                <a:solidFill>
                  <a:srgbClr val="5C5F66"/>
                </a:solidFill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000">
                <a:solidFill>
                  <a:srgbClr val="5C5F66"/>
                </a:solidFill>
              </a:rPr>
              <a:t>Text</a:t>
            </a:r>
            <a:endParaRPr lang="en-US" sz="2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350" y="5956300"/>
            <a:ext cx="609600" cy="62865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00" y="749300"/>
            <a:ext cx="10566400" cy="698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161616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>
                <a:solidFill>
                  <a:srgbClr val="161616"/>
                </a:solidFill>
              </a:rPr>
              <a:t>Slide title</a:t>
            </a:r>
            <a:endParaRPr lang="en-US" sz="36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00" y="1905000"/>
            <a:ext cx="10566400" cy="3937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1600" dirty="0">
                <a:solidFill>
                  <a:srgbClr val="161616"/>
                </a:solidFill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600">
                <a:solidFill>
                  <a:srgbClr val="161616"/>
                </a:solidFill>
              </a:rPr>
              <a:t>Text</a:t>
            </a:r>
            <a:endParaRPr lang="en-US" sz="16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350" y="5956300"/>
            <a:ext cx="609600" cy="62865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00" y="749300"/>
            <a:ext cx="10566400" cy="698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161616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>
                <a:solidFill>
                  <a:srgbClr val="161616"/>
                </a:solidFill>
              </a:rPr>
              <a:t>Slide title</a:t>
            </a:r>
            <a:endParaRPr lang="en-US" sz="36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00" y="1905000"/>
            <a:ext cx="5080000" cy="3937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1600" dirty="0">
                <a:solidFill>
                  <a:srgbClr val="161616"/>
                </a:solidFill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600">
                <a:solidFill>
                  <a:srgbClr val="161616"/>
                </a:solidFill>
              </a:rPr>
              <a:t>Text</a:t>
            </a:r>
            <a:endParaRPr lang="en-US" sz="160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299200" y="1905000"/>
            <a:ext cx="5080000" cy="3937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1600" dirty="0">
                <a:solidFill>
                  <a:srgbClr val="161616"/>
                </a:solidFill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600">
                <a:solidFill>
                  <a:srgbClr val="161616"/>
                </a:solidFill>
              </a:rPr>
              <a:t>Text</a:t>
            </a:r>
            <a:endParaRPr lang="en-US" sz="16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350" y="5956300"/>
            <a:ext cx="609600" cy="62865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00" y="749300"/>
            <a:ext cx="10566400" cy="698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161616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>
                <a:solidFill>
                  <a:srgbClr val="161616"/>
                </a:solidFill>
              </a:rPr>
              <a:t>Slide title</a:t>
            </a:r>
            <a:endParaRPr lang="en-US" sz="3600"/>
          </a:p>
        </p:txBody>
      </p:sp>
      <p:sp>
        <p:nvSpPr>
          <p:cNvPr id="4" name="Text 0"/>
          <p:cNvSpPr>
            <a:spLocks noGrp="1"/>
          </p:cNvSpPr>
          <p:nvPr>
            <p:ph idx="102" hasCustomPrompt="1"/>
          </p:nvPr>
        </p:nvSpPr>
        <p:spPr>
          <a:xfrm>
            <a:off x="812800" y="1905000"/>
            <a:ext cx="5080000" cy="381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solidFill>
                  <a:srgbClr val="5C5F66"/>
                </a:solidFill>
              </a:defRPr>
            </a:lvl1pPr>
          </a:lstStyle>
          <a:p>
            <a:pPr marL="0" indent="0">
              <a:buNone/>
            </a:pPr>
            <a:r>
              <a:rPr lang="en-US">
                <a:solidFill>
                  <a:srgbClr val="5C5F66"/>
                </a:solidFill>
              </a:rPr>
              <a:t>Picture</a:t>
            </a:r>
            <a:endParaRPr lang="en-US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502400" y="1905000"/>
            <a:ext cx="4876800" cy="381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1600" dirty="0">
                <a:solidFill>
                  <a:srgbClr val="161616"/>
                </a:solidFill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600">
                <a:solidFill>
                  <a:srgbClr val="161616"/>
                </a:solidFill>
              </a:rPr>
              <a:t>Text</a:t>
            </a:r>
            <a:endParaRPr lang="en-US" sz="16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U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350" y="5956300"/>
            <a:ext cx="609600" cy="62865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00" y="749300"/>
            <a:ext cx="10566400" cy="698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161616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>
                <a:solidFill>
                  <a:srgbClr val="161616"/>
                </a:solidFill>
              </a:rPr>
              <a:t>Slide title</a:t>
            </a:r>
            <a:endParaRPr lang="en-US" sz="3600"/>
          </a:p>
        </p:txBody>
      </p:sp>
      <p:sp>
        <p:nvSpPr>
          <p:cNvPr id="4" name="Text 0"/>
          <p:cNvSpPr>
            <a:spLocks noGrp="1"/>
          </p:cNvSpPr>
          <p:nvPr>
            <p:ph idx="102" hasCustomPrompt="1"/>
          </p:nvPr>
        </p:nvSpPr>
        <p:spPr>
          <a:xfrm>
            <a:off x="812800" y="1905000"/>
            <a:ext cx="3352800" cy="2514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solidFill>
                  <a:srgbClr val="5C5F66"/>
                </a:solidFill>
              </a:defRPr>
            </a:lvl1pPr>
          </a:lstStyle>
          <a:p>
            <a:pPr marL="0" indent="0">
              <a:buNone/>
            </a:pPr>
            <a:r>
              <a:rPr lang="en-US">
                <a:solidFill>
                  <a:srgbClr val="5C5F66"/>
                </a:solidFill>
              </a:rPr>
              <a:t>Picture</a:t>
            </a:r>
            <a:endParaRPr lang="en-US"/>
          </a:p>
        </p:txBody>
      </p:sp>
      <p:sp>
        <p:nvSpPr>
          <p:cNvPr id="5" name="Text 0"/>
          <p:cNvSpPr>
            <a:spLocks noGrp="1"/>
          </p:cNvSpPr>
          <p:nvPr>
            <p:ph idx="103" hasCustomPrompt="1"/>
          </p:nvPr>
        </p:nvSpPr>
        <p:spPr>
          <a:xfrm>
            <a:off x="4419600" y="1905000"/>
            <a:ext cx="3352800" cy="2514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solidFill>
                  <a:srgbClr val="5C5F66"/>
                </a:solidFill>
              </a:defRPr>
            </a:lvl1pPr>
          </a:lstStyle>
          <a:p>
            <a:pPr marL="0" indent="0">
              <a:buNone/>
            </a:pPr>
            <a:r>
              <a:rPr lang="en-US">
                <a:solidFill>
                  <a:srgbClr val="5C5F66"/>
                </a:solidFill>
              </a:rPr>
              <a:t>Picture</a:t>
            </a:r>
            <a:endParaRPr lang="en-US"/>
          </a:p>
        </p:txBody>
      </p:sp>
      <p:sp>
        <p:nvSpPr>
          <p:cNvPr id="6" name="Text 0"/>
          <p:cNvSpPr>
            <a:spLocks noGrp="1"/>
          </p:cNvSpPr>
          <p:nvPr>
            <p:ph idx="104" hasCustomPrompt="1"/>
          </p:nvPr>
        </p:nvSpPr>
        <p:spPr>
          <a:xfrm>
            <a:off x="8026400" y="1905000"/>
            <a:ext cx="3352800" cy="2514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>
                <a:solidFill>
                  <a:srgbClr val="5C5F66"/>
                </a:solidFill>
              </a:defRPr>
            </a:lvl1pPr>
          </a:lstStyle>
          <a:p>
            <a:pPr marL="0" indent="0">
              <a:buNone/>
            </a:pPr>
            <a:r>
              <a:rPr lang="en-US">
                <a:solidFill>
                  <a:srgbClr val="5C5F66"/>
                </a:solidFill>
              </a:rPr>
              <a:t>Picture</a:t>
            </a:r>
            <a:endParaRPr lang="en-US"/>
          </a:p>
        </p:txBody>
      </p:sp>
      <p:sp>
        <p:nvSpPr>
          <p:cNvPr id="7" name="Text 0"/>
          <p:cNvSpPr>
            <a:spLocks noGrp="1"/>
          </p:cNvSpPr>
          <p:nvPr>
            <p:ph type="body" idx="105" hasCustomPrompt="1"/>
          </p:nvPr>
        </p:nvSpPr>
        <p:spPr>
          <a:xfrm>
            <a:off x="812800" y="4572000"/>
            <a:ext cx="3352800" cy="127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1400" dirty="0">
                <a:solidFill>
                  <a:srgbClr val="5C5F66"/>
                </a:solidFill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400">
                <a:solidFill>
                  <a:srgbClr val="5C5F66"/>
                </a:solidFill>
              </a:rPr>
              <a:t>Text</a:t>
            </a:r>
            <a:endParaRPr lang="en-US" sz="1400"/>
          </a:p>
        </p:txBody>
      </p:sp>
      <p:sp>
        <p:nvSpPr>
          <p:cNvPr id="8" name="Text 0"/>
          <p:cNvSpPr>
            <a:spLocks noGrp="1"/>
          </p:cNvSpPr>
          <p:nvPr>
            <p:ph type="body" idx="106" hasCustomPrompt="1"/>
          </p:nvPr>
        </p:nvSpPr>
        <p:spPr>
          <a:xfrm>
            <a:off x="4419600" y="4572000"/>
            <a:ext cx="3352800" cy="127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1400" dirty="0">
                <a:solidFill>
                  <a:srgbClr val="5C5F66"/>
                </a:solidFill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400">
                <a:solidFill>
                  <a:srgbClr val="5C5F66"/>
                </a:solidFill>
              </a:rPr>
              <a:t>Text</a:t>
            </a:r>
            <a:endParaRPr lang="en-US" sz="1400"/>
          </a:p>
        </p:txBody>
      </p:sp>
      <p:sp>
        <p:nvSpPr>
          <p:cNvPr id="9" name="Text 0"/>
          <p:cNvSpPr>
            <a:spLocks noGrp="1"/>
          </p:cNvSpPr>
          <p:nvPr>
            <p:ph type="body" idx="107" hasCustomPrompt="1"/>
          </p:nvPr>
        </p:nvSpPr>
        <p:spPr>
          <a:xfrm>
            <a:off x="8026400" y="4572000"/>
            <a:ext cx="3352800" cy="127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1400" dirty="0">
                <a:solidFill>
                  <a:srgbClr val="5C5F66"/>
                </a:solidFill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400">
                <a:solidFill>
                  <a:srgbClr val="5C5F66"/>
                </a:solidFill>
              </a:rPr>
              <a:t>Text</a:t>
            </a:r>
            <a:endParaRPr lang="en-US" sz="14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350" y="5956300"/>
            <a:ext cx="609600" cy="62865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00" y="1905000"/>
            <a:ext cx="8890000" cy="203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rgbClr val="161616"/>
                </a:solidFill>
              </a:defRPr>
            </a:lvl1pPr>
          </a:lstStyle>
          <a:p>
            <a:pPr marL="0" indent="0" algn="l">
              <a:buNone/>
            </a:pPr>
            <a:r>
              <a:rPr lang="en-US" sz="6000" b="1">
                <a:solidFill>
                  <a:srgbClr val="161616"/>
                </a:solidFill>
              </a:rPr>
              <a:t>Slide title</a:t>
            </a:r>
            <a:endParaRPr lang="en-US" sz="60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00" y="4191000"/>
            <a:ext cx="6985000" cy="101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2000" dirty="0">
                <a:solidFill>
                  <a:srgbClr val="5C5F66"/>
                </a:solidFill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000">
                <a:solidFill>
                  <a:srgbClr val="5C5F66"/>
                </a:solidFill>
              </a:rPr>
              <a:t>Text</a:t>
            </a:r>
            <a:endParaRPr lang="en-US" sz="20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-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350" y="5956300"/>
            <a:ext cx="609600" cy="62865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00" y="749300"/>
            <a:ext cx="10566400" cy="698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161616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>
                <a:solidFill>
                  <a:srgbClr val="161616"/>
                </a:solidFill>
              </a:rPr>
              <a:t>Slide title</a:t>
            </a:r>
            <a:endParaRPr lang="en-US" sz="36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12800" y="2413000"/>
            <a:ext cx="4826000" cy="152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rgbClr val="161616"/>
                </a:solidFill>
              </a:defRPr>
            </a:lvl1pPr>
          </a:lstStyle>
          <a:p>
            <a:pPr marL="0" indent="0" algn="l">
              <a:buNone/>
            </a:pPr>
            <a:r>
              <a:rPr lang="en-US" sz="6000" b="1">
                <a:solidFill>
                  <a:srgbClr val="161616"/>
                </a:solidFill>
              </a:rPr>
              <a:t>Slide title</a:t>
            </a:r>
            <a:endParaRPr lang="en-US" sz="60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12800" y="4127500"/>
            <a:ext cx="45720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spcAft>
                <a:spcPts val="800"/>
              </a:spcAft>
              <a:buNone/>
              <a:defRPr lang="en-US" sz="2200" dirty="0">
                <a:solidFill>
                  <a:srgbClr val="5C5F66"/>
                </a:solidFill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200">
                <a:solidFill>
                  <a:srgbClr val="5C5F66"/>
                </a:solidFill>
              </a:rPr>
              <a:t>Text</a:t>
            </a:r>
            <a:endParaRPr lang="en-US" sz="22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9350" y="5956300"/>
            <a:ext cx="609600" cy="6286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Tea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2743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 algn="l">
              <a:buNone/>
              <a:defRPr lang="en-US" sz="36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title</a:t>
            </a:r>
            <a:endParaRPr lang="en-US" sz="3600"/>
          </a:p>
        </p:txBody>
      </p:sp>
      <p:sp>
        <p:nvSpPr>
          <p:cNvPr id="3" name="Text 0"/>
          <p:cNvSpPr>
            <a:spLocks noGrp="1"/>
          </p:cNvSpPr>
          <p:nvPr>
            <p:ph type="pic" idx="101" hasCustomPrompt="1"/>
          </p:nvPr>
        </p:nvSpPr>
        <p:spPr>
          <a:xfrm>
            <a:off x="889000" y="2698750"/>
            <a:ext cx="1460500" cy="14605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59130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59130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4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4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/>
          </a:p>
        </p:txBody>
      </p:sp>
      <p:sp>
        <p:nvSpPr>
          <p:cNvPr id="6" name="Text 0"/>
          <p:cNvSpPr>
            <a:spLocks noGrp="1"/>
          </p:cNvSpPr>
          <p:nvPr>
            <p:ph type="pic" idx="104" hasCustomPrompt="1"/>
          </p:nvPr>
        </p:nvSpPr>
        <p:spPr>
          <a:xfrm>
            <a:off x="3127375" y="2698750"/>
            <a:ext cx="1460500" cy="14605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/>
          </a:p>
        </p:txBody>
      </p:sp>
      <p:sp>
        <p:nvSpPr>
          <p:cNvPr id="7" name="Text 0"/>
          <p:cNvSpPr>
            <a:spLocks noGrp="1"/>
          </p:cNvSpPr>
          <p:nvPr>
            <p:ph type="body" idx="105" hasCustomPrompt="1"/>
          </p:nvPr>
        </p:nvSpPr>
        <p:spPr>
          <a:xfrm>
            <a:off x="2897505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/>
          </a:p>
        </p:txBody>
      </p:sp>
      <p:sp>
        <p:nvSpPr>
          <p:cNvPr id="8" name="Text 0"/>
          <p:cNvSpPr>
            <a:spLocks noGrp="1"/>
          </p:cNvSpPr>
          <p:nvPr>
            <p:ph type="body" idx="106" hasCustomPrompt="1"/>
          </p:nvPr>
        </p:nvSpPr>
        <p:spPr>
          <a:xfrm>
            <a:off x="2897505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4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4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/>
          </a:p>
        </p:txBody>
      </p:sp>
      <p:sp>
        <p:nvSpPr>
          <p:cNvPr id="9" name="Text 0"/>
          <p:cNvSpPr>
            <a:spLocks noGrp="1"/>
          </p:cNvSpPr>
          <p:nvPr>
            <p:ph type="pic" idx="107" hasCustomPrompt="1"/>
          </p:nvPr>
        </p:nvSpPr>
        <p:spPr>
          <a:xfrm>
            <a:off x="5365750" y="2698750"/>
            <a:ext cx="1460500" cy="14605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/>
          </a:p>
        </p:txBody>
      </p:sp>
      <p:sp>
        <p:nvSpPr>
          <p:cNvPr id="10" name="Text 0"/>
          <p:cNvSpPr>
            <a:spLocks noGrp="1"/>
          </p:cNvSpPr>
          <p:nvPr>
            <p:ph type="body" idx="108" hasCustomPrompt="1"/>
          </p:nvPr>
        </p:nvSpPr>
        <p:spPr>
          <a:xfrm>
            <a:off x="5135880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/>
          </a:p>
        </p:txBody>
      </p:sp>
      <p:sp>
        <p:nvSpPr>
          <p:cNvPr id="11" name="Text 0"/>
          <p:cNvSpPr>
            <a:spLocks noGrp="1"/>
          </p:cNvSpPr>
          <p:nvPr>
            <p:ph type="body" idx="109" hasCustomPrompt="1"/>
          </p:nvPr>
        </p:nvSpPr>
        <p:spPr>
          <a:xfrm>
            <a:off x="5135880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4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4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/>
          </a:p>
        </p:txBody>
      </p:sp>
      <p:sp>
        <p:nvSpPr>
          <p:cNvPr id="12" name="Text 0"/>
          <p:cNvSpPr>
            <a:spLocks noGrp="1"/>
          </p:cNvSpPr>
          <p:nvPr>
            <p:ph type="pic" idx="110" hasCustomPrompt="1"/>
          </p:nvPr>
        </p:nvSpPr>
        <p:spPr>
          <a:xfrm>
            <a:off x="7604125" y="2698750"/>
            <a:ext cx="1460500" cy="14605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/>
          </a:p>
        </p:txBody>
      </p:sp>
      <p:sp>
        <p:nvSpPr>
          <p:cNvPr id="13" name="Text 0"/>
          <p:cNvSpPr>
            <a:spLocks noGrp="1"/>
          </p:cNvSpPr>
          <p:nvPr>
            <p:ph type="body" idx="111" hasCustomPrompt="1"/>
          </p:nvPr>
        </p:nvSpPr>
        <p:spPr>
          <a:xfrm>
            <a:off x="7374255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/>
          </a:p>
        </p:txBody>
      </p:sp>
      <p:sp>
        <p:nvSpPr>
          <p:cNvPr id="14" name="Text 0"/>
          <p:cNvSpPr>
            <a:spLocks noGrp="1"/>
          </p:cNvSpPr>
          <p:nvPr>
            <p:ph type="body" idx="112" hasCustomPrompt="1"/>
          </p:nvPr>
        </p:nvSpPr>
        <p:spPr>
          <a:xfrm>
            <a:off x="7374255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4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4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/>
          </a:p>
        </p:txBody>
      </p:sp>
      <p:sp>
        <p:nvSpPr>
          <p:cNvPr id="15" name="Text 0"/>
          <p:cNvSpPr>
            <a:spLocks noGrp="1"/>
          </p:cNvSpPr>
          <p:nvPr>
            <p:ph type="pic" idx="113" hasCustomPrompt="1"/>
          </p:nvPr>
        </p:nvSpPr>
        <p:spPr>
          <a:xfrm>
            <a:off x="9842500" y="2698750"/>
            <a:ext cx="1460500" cy="14605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/>
          </a:p>
        </p:txBody>
      </p:sp>
      <p:sp>
        <p:nvSpPr>
          <p:cNvPr id="16" name="Text 0"/>
          <p:cNvSpPr>
            <a:spLocks noGrp="1"/>
          </p:cNvSpPr>
          <p:nvPr>
            <p:ph type="body" idx="114" hasCustomPrompt="1"/>
          </p:nvPr>
        </p:nvSpPr>
        <p:spPr>
          <a:xfrm>
            <a:off x="9612630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/>
          </a:p>
        </p:txBody>
      </p:sp>
      <p:sp>
        <p:nvSpPr>
          <p:cNvPr id="17" name="Text 0"/>
          <p:cNvSpPr>
            <a:spLocks noGrp="1"/>
          </p:cNvSpPr>
          <p:nvPr>
            <p:ph type="body" idx="115" hasCustomPrompt="1"/>
          </p:nvPr>
        </p:nvSpPr>
        <p:spPr>
          <a:xfrm>
            <a:off x="9612630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4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4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/>
          </a:p>
        </p:txBody>
      </p:sp>
      <p:pic>
        <p:nvPicPr>
          <p:cNvPr id="18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333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Team Person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2743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 algn="l">
              <a:buNone/>
              <a:defRPr lang="en-US" sz="36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title</a:t>
            </a:r>
            <a:endParaRPr lang="en-US" sz="3600"/>
          </a:p>
        </p:txBody>
      </p:sp>
      <p:sp>
        <p:nvSpPr>
          <p:cNvPr id="3" name="Text 0"/>
          <p:cNvSpPr>
            <a:spLocks noGrp="1"/>
          </p:cNvSpPr>
          <p:nvPr>
            <p:ph type="pic" idx="101" hasCustomPrompt="1"/>
          </p:nvPr>
        </p:nvSpPr>
        <p:spPr>
          <a:xfrm>
            <a:off x="889000" y="2698750"/>
            <a:ext cx="1460500" cy="14605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59130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59130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4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4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/>
          </a:p>
        </p:txBody>
      </p:sp>
      <p:sp>
        <p:nvSpPr>
          <p:cNvPr id="6" name="Text 0"/>
          <p:cNvSpPr>
            <a:spLocks noGrp="1"/>
          </p:cNvSpPr>
          <p:nvPr>
            <p:ph type="pic" idx="104" hasCustomPrompt="1"/>
          </p:nvPr>
        </p:nvSpPr>
        <p:spPr>
          <a:xfrm>
            <a:off x="3127375" y="2698750"/>
            <a:ext cx="1460500" cy="14605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/>
          </a:p>
        </p:txBody>
      </p:sp>
      <p:sp>
        <p:nvSpPr>
          <p:cNvPr id="7" name="Text 0"/>
          <p:cNvSpPr>
            <a:spLocks noGrp="1"/>
          </p:cNvSpPr>
          <p:nvPr>
            <p:ph type="body" idx="105" hasCustomPrompt="1"/>
          </p:nvPr>
        </p:nvSpPr>
        <p:spPr>
          <a:xfrm>
            <a:off x="2897505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/>
          </a:p>
        </p:txBody>
      </p:sp>
      <p:sp>
        <p:nvSpPr>
          <p:cNvPr id="8" name="Text 0"/>
          <p:cNvSpPr>
            <a:spLocks noGrp="1"/>
          </p:cNvSpPr>
          <p:nvPr>
            <p:ph type="body" idx="106" hasCustomPrompt="1"/>
          </p:nvPr>
        </p:nvSpPr>
        <p:spPr>
          <a:xfrm>
            <a:off x="2897505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4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4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/>
          </a:p>
        </p:txBody>
      </p:sp>
      <p:sp>
        <p:nvSpPr>
          <p:cNvPr id="9" name="Text 0"/>
          <p:cNvSpPr>
            <a:spLocks noGrp="1"/>
          </p:cNvSpPr>
          <p:nvPr>
            <p:ph type="pic" idx="107" hasCustomPrompt="1"/>
          </p:nvPr>
        </p:nvSpPr>
        <p:spPr>
          <a:xfrm>
            <a:off x="5365750" y="2698750"/>
            <a:ext cx="1460500" cy="14605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/>
          </a:p>
        </p:txBody>
      </p:sp>
      <p:sp>
        <p:nvSpPr>
          <p:cNvPr id="10" name="Text 0"/>
          <p:cNvSpPr>
            <a:spLocks noGrp="1"/>
          </p:cNvSpPr>
          <p:nvPr>
            <p:ph type="body" idx="108" hasCustomPrompt="1"/>
          </p:nvPr>
        </p:nvSpPr>
        <p:spPr>
          <a:xfrm>
            <a:off x="5135880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/>
          </a:p>
        </p:txBody>
      </p:sp>
      <p:sp>
        <p:nvSpPr>
          <p:cNvPr id="11" name="Text 0"/>
          <p:cNvSpPr>
            <a:spLocks noGrp="1"/>
          </p:cNvSpPr>
          <p:nvPr>
            <p:ph type="body" idx="109" hasCustomPrompt="1"/>
          </p:nvPr>
        </p:nvSpPr>
        <p:spPr>
          <a:xfrm>
            <a:off x="5135880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4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4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/>
          </a:p>
        </p:txBody>
      </p:sp>
      <p:sp>
        <p:nvSpPr>
          <p:cNvPr id="12" name="Text 0"/>
          <p:cNvSpPr>
            <a:spLocks noGrp="1"/>
          </p:cNvSpPr>
          <p:nvPr>
            <p:ph type="pic" idx="110" hasCustomPrompt="1"/>
          </p:nvPr>
        </p:nvSpPr>
        <p:spPr>
          <a:xfrm>
            <a:off x="7604125" y="2698750"/>
            <a:ext cx="1460500" cy="14605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/>
          </a:p>
        </p:txBody>
      </p:sp>
      <p:sp>
        <p:nvSpPr>
          <p:cNvPr id="13" name="Text 0"/>
          <p:cNvSpPr>
            <a:spLocks noGrp="1"/>
          </p:cNvSpPr>
          <p:nvPr>
            <p:ph type="body" idx="111" hasCustomPrompt="1"/>
          </p:nvPr>
        </p:nvSpPr>
        <p:spPr>
          <a:xfrm>
            <a:off x="7374255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/>
          </a:p>
        </p:txBody>
      </p:sp>
      <p:sp>
        <p:nvSpPr>
          <p:cNvPr id="14" name="Text 0"/>
          <p:cNvSpPr>
            <a:spLocks noGrp="1"/>
          </p:cNvSpPr>
          <p:nvPr>
            <p:ph type="body" idx="112" hasCustomPrompt="1"/>
          </p:nvPr>
        </p:nvSpPr>
        <p:spPr>
          <a:xfrm>
            <a:off x="7374255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4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4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/>
          </a:p>
        </p:txBody>
      </p:sp>
      <p:sp>
        <p:nvSpPr>
          <p:cNvPr id="15" name="Text 0"/>
          <p:cNvSpPr>
            <a:spLocks noGrp="1"/>
          </p:cNvSpPr>
          <p:nvPr>
            <p:ph type="pic" idx="113" hasCustomPrompt="1"/>
          </p:nvPr>
        </p:nvSpPr>
        <p:spPr>
          <a:xfrm>
            <a:off x="9842500" y="2698750"/>
            <a:ext cx="1460500" cy="14605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/>
          </a:p>
        </p:txBody>
      </p:sp>
      <p:sp>
        <p:nvSpPr>
          <p:cNvPr id="16" name="Text 0"/>
          <p:cNvSpPr>
            <a:spLocks noGrp="1"/>
          </p:cNvSpPr>
          <p:nvPr>
            <p:ph type="body" idx="114" hasCustomPrompt="1"/>
          </p:nvPr>
        </p:nvSpPr>
        <p:spPr>
          <a:xfrm>
            <a:off x="9612630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/>
          </a:p>
        </p:txBody>
      </p:sp>
      <p:sp>
        <p:nvSpPr>
          <p:cNvPr id="17" name="Text 0"/>
          <p:cNvSpPr>
            <a:spLocks noGrp="1"/>
          </p:cNvSpPr>
          <p:nvPr>
            <p:ph type="body" idx="115" hasCustomPrompt="1"/>
          </p:nvPr>
        </p:nvSpPr>
        <p:spPr>
          <a:xfrm>
            <a:off x="9612630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4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4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/>
          </a:p>
        </p:txBody>
      </p:sp>
      <p:pic>
        <p:nvPicPr>
          <p:cNvPr id="18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79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0.pn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00" y="3683000"/>
            <a:ext cx="482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8000" b="1">
                <a:solidFill>
                  <a:srgbClr val="161616"/>
                </a:solidFill>
              </a:rPr>
              <a:t>Ad Omnia</a:t>
            </a:r>
            <a:endParaRPr lang="en-US" sz="80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00" y="50165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200">
                <a:solidFill>
                  <a:srgbClr val="5C5F66"/>
                </a:solidFill>
              </a:rPr>
              <a:t>Ad Omnia in perpetuum.</a:t>
            </a:r>
            <a:endParaRPr lang="en-US" sz="2200"/>
          </a:p>
        </p:txBody>
      </p:sp>
      <p:pic>
        <p:nvPicPr>
          <p:cNvPr id="2" name="Picture 1" descr="Ficheiro:UA Logo e Símbolo.png – Wikipédia, a enciclopédia livre">
            <a:extLst>
              <a:ext uri="{FF2B5EF4-FFF2-40B4-BE49-F238E27FC236}">
                <a16:creationId xmlns:a16="http://schemas.microsoft.com/office/drawing/2014/main" id="{92B2C308-5B72-984A-30A9-86E50C9E4F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4"/>
          <a:stretch>
            <a:fillRect/>
          </a:stretch>
        </p:blipFill>
        <p:spPr>
          <a:xfrm>
            <a:off x="114120" y="6339517"/>
            <a:ext cx="1806464" cy="438150"/>
          </a:xfrm>
          <a:prstGeom prst="rect">
            <a:avLst/>
          </a:prstGeom>
        </p:spPr>
      </p:pic>
      <p:pic>
        <p:nvPicPr>
          <p:cNvPr id="5" name="Picture 4" descr="Building Resilient Communications for Distributed Systems Applications:  From Blockchain to Autonomous Vehicles and 5G V2X : vTools Events | vTools  IEEE">
            <a:extLst>
              <a:ext uri="{FF2B5EF4-FFF2-40B4-BE49-F238E27FC236}">
                <a16:creationId xmlns:a16="http://schemas.microsoft.com/office/drawing/2014/main" id="{4C0E337B-6F43-8067-11C3-E47B400695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135719" y="6207735"/>
            <a:ext cx="2124075" cy="704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00" y="1905000"/>
            <a:ext cx="889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>
                <a:latin typeface="Geist"/>
                <a:ea typeface="Calibri"/>
                <a:cs typeface="Calibri"/>
              </a:rPr>
              <a:t>"Knowledge is Power"</a:t>
            </a:r>
            <a:endParaRPr lang="en-US" sz="6000">
              <a:latin typeface="Geist"/>
              <a:ea typeface="Calibri"/>
              <a:cs typeface="Calibri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812800" y="4191000"/>
            <a:ext cx="698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Calibri"/>
              <a:buChar char="-"/>
            </a:pPr>
            <a:r>
              <a:rPr lang="en-US" i="1"/>
              <a:t>Frequently attributed to Sir Francis Bacon</a:t>
            </a:r>
            <a:endParaRPr lang="en-US" sz="2000" i="1"/>
          </a:p>
        </p:txBody>
      </p:sp>
      <p:sp>
        <p:nvSpPr>
          <p:cNvPr id="4" name="Slide Number"/>
          <p:cNvSpPr txBox="1"/>
          <p:nvPr/>
        </p:nvSpPr>
        <p:spPr>
          <a:xfrm>
            <a:off x="10737850" y="60877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400">
                <a:solidFill>
                  <a:srgbClr val="5C5F66"/>
                </a:solidFill>
              </a:rPr>
              <a:t>2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00" y="7493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/>
              <a:t>Requirements Gathering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37850" y="60877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6C286408-FD61-4112-9D33-C08B18E9B401}" type="slidenum">
              <a:rPr lang="en-US" sz="1400" dirty="0">
                <a:solidFill>
                  <a:srgbClr val="5C5F66"/>
                </a:solidFill>
              </a:rPr>
              <a:t>3</a:t>
            </a:fld>
            <a:endParaRPr lang="en-US" sz="1400">
              <a:solidFill>
                <a:srgbClr val="5C5F6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1FC7A-4287-A823-2011-E9F5C8266746}"/>
              </a:ext>
            </a:extLst>
          </p:cNvPr>
          <p:cNvSpPr txBox="1"/>
          <p:nvPr/>
        </p:nvSpPr>
        <p:spPr>
          <a:xfrm>
            <a:off x="812800" y="1313766"/>
            <a:ext cx="101498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/>
              <a:t>Meetings with entities such as: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357A83-57B3-DC7E-D1E0-5A2BD1DD8CBB}"/>
              </a:ext>
            </a:extLst>
          </p:cNvPr>
          <p:cNvGrpSpPr/>
          <p:nvPr/>
        </p:nvGrpSpPr>
        <p:grpSpPr>
          <a:xfrm>
            <a:off x="458091" y="2063189"/>
            <a:ext cx="5459370" cy="4470415"/>
            <a:chOff x="430659" y="2063189"/>
            <a:chExt cx="5459370" cy="447041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35F3BA5-5FFE-4595-1178-F30D215EB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00112" y="2063189"/>
              <a:ext cx="3720465" cy="3758565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CCB91CC-225F-6DBE-4A4E-2E60D9DF636A}"/>
                </a:ext>
              </a:extLst>
            </p:cNvPr>
            <p:cNvSpPr txBox="1"/>
            <p:nvPr/>
          </p:nvSpPr>
          <p:spPr>
            <a:xfrm>
              <a:off x="430659" y="5825718"/>
              <a:ext cx="5459370" cy="70788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000">
                  <a:ea typeface="+mn-lt"/>
                  <a:cs typeface="+mn-lt"/>
                </a:rPr>
                <a:t>Commander of Voluntary Firefighters of </a:t>
              </a:r>
              <a:r>
                <a:rPr lang="en-US" sz="2000" err="1">
                  <a:ea typeface="+mn-lt"/>
                  <a:cs typeface="+mn-lt"/>
                </a:rPr>
                <a:t>Ílhavo</a:t>
              </a:r>
              <a:endParaRPr lang="en-US" sz="2000">
                <a:ea typeface="+mn-lt"/>
                <a:cs typeface="+mn-lt"/>
              </a:endParaRPr>
            </a:p>
            <a:p>
              <a:pPr algn="ctr"/>
              <a:r>
                <a:rPr lang="en-US" sz="2000">
                  <a:solidFill>
                    <a:srgbClr val="000000"/>
                  </a:solidFill>
                  <a:ea typeface="+mn-lt"/>
                  <a:cs typeface="+mn-lt"/>
                </a:rPr>
                <a:t>Artur Ferreira</a:t>
              </a:r>
              <a:endParaRPr lang="en-GB" sz="2000">
                <a:solidFill>
                  <a:srgbClr val="000000"/>
                </a:solidFill>
                <a:ea typeface="+mn-lt"/>
                <a:cs typeface="+mn-lt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6E8945A-A23C-94F0-0572-BA5950F9CE7E}"/>
              </a:ext>
            </a:extLst>
          </p:cNvPr>
          <p:cNvGrpSpPr/>
          <p:nvPr/>
        </p:nvGrpSpPr>
        <p:grpSpPr>
          <a:xfrm>
            <a:off x="5735680" y="2063189"/>
            <a:ext cx="5459370" cy="4470415"/>
            <a:chOff x="5584255" y="2063189"/>
            <a:chExt cx="5459370" cy="447041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CF2878C-6F5E-8DE6-6614-B4F066FD8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791722" y="2063189"/>
              <a:ext cx="3044437" cy="375856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4AD89E-AC44-88D7-CF7A-433D0F6AFC96}"/>
                </a:ext>
              </a:extLst>
            </p:cNvPr>
            <p:cNvSpPr txBox="1"/>
            <p:nvPr/>
          </p:nvSpPr>
          <p:spPr>
            <a:xfrm>
              <a:off x="5584255" y="5825718"/>
              <a:ext cx="5459370" cy="70788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000">
                  <a:ea typeface="+mn-lt"/>
                  <a:cs typeface="+mn-lt"/>
                </a:rPr>
                <a:t>Sargento </a:t>
              </a:r>
              <a:r>
                <a:rPr lang="en-US" sz="2000" err="1">
                  <a:ea typeface="+mn-lt"/>
                  <a:cs typeface="+mn-lt"/>
                </a:rPr>
                <a:t>Chefe</a:t>
              </a:r>
              <a:r>
                <a:rPr lang="en-US" sz="2000">
                  <a:ea typeface="+mn-lt"/>
                  <a:cs typeface="+mn-lt"/>
                </a:rPr>
                <a:t> GNR</a:t>
              </a:r>
            </a:p>
            <a:p>
              <a:pPr algn="ctr"/>
              <a:r>
                <a:rPr lang="en-US" sz="2000">
                  <a:ea typeface="+mn-lt"/>
                  <a:cs typeface="+mn-lt"/>
                </a:rPr>
                <a:t>César Paradela </a:t>
              </a:r>
              <a:endParaRPr lang="en-GB" sz="2000">
                <a:solidFill>
                  <a:srgbClr val="000000"/>
                </a:solidFill>
                <a:ea typeface="+mn-lt"/>
                <a:cs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00" y="7493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/>
              <a:t>Personas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37850" y="60877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43327B17-8B30-4003-8DF7-51FBD7F1C76A}" type="slidenum">
              <a:rPr lang="en-US" sz="1400" dirty="0">
                <a:solidFill>
                  <a:srgbClr val="5C5F66"/>
                </a:solidFill>
              </a:rPr>
              <a:t>4</a:t>
            </a:fld>
            <a:endParaRPr lang="en-US" sz="1400">
              <a:solidFill>
                <a:srgbClr val="5C5F66"/>
              </a:solidFill>
            </a:endParaRP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98042CF-2841-66CF-9B18-27DD6B56073B}"/>
              </a:ext>
            </a:extLst>
          </p:cNvPr>
          <p:cNvSpPr>
            <a:spLocks noGrp="1"/>
          </p:cNvSpPr>
          <p:nvPr/>
        </p:nvSpPr>
        <p:spPr>
          <a:xfrm>
            <a:off x="1932294" y="4436817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lang="en-US" sz="1800" b="1" kern="1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Sofia Marques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89E53B72-7A28-0AF2-B43B-2D560B491A2A}"/>
              </a:ext>
            </a:extLst>
          </p:cNvPr>
          <p:cNvSpPr>
            <a:spLocks noGrp="1"/>
          </p:cNvSpPr>
          <p:nvPr/>
        </p:nvSpPr>
        <p:spPr>
          <a:xfrm>
            <a:off x="1932294" y="4802577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lang="en-US" sz="1400" kern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alibri"/>
                <a:ea typeface="Calibri"/>
                <a:cs typeface="Calibri"/>
              </a:rPr>
              <a:t>Control</a:t>
            </a:r>
            <a:r>
              <a:rPr>
                <a:latin typeface="Calibri"/>
                <a:ea typeface="Calibri"/>
                <a:cs typeface="Calibri"/>
              </a:rPr>
              <a:t> Room Operator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107CCD50-5E44-C67D-CF4E-B4149D184A74}"/>
              </a:ext>
            </a:extLst>
          </p:cNvPr>
          <p:cNvSpPr>
            <a:spLocks noGrp="1"/>
          </p:cNvSpPr>
          <p:nvPr/>
        </p:nvSpPr>
        <p:spPr>
          <a:xfrm>
            <a:off x="4820093" y="442110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lang="en-US" sz="1800" b="1" kern="1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Tiago Ferreira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CDD9EAB-10E7-A82B-1448-A842B015E05A}"/>
              </a:ext>
            </a:extLst>
          </p:cNvPr>
          <p:cNvSpPr>
            <a:spLocks noGrp="1"/>
          </p:cNvSpPr>
          <p:nvPr/>
        </p:nvSpPr>
        <p:spPr>
          <a:xfrm>
            <a:off x="4820093" y="4786865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lang="en-US" sz="1400" kern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Emergency Planner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2E5B5958-B27F-5E37-79DE-26458CE7A2DF}"/>
              </a:ext>
            </a:extLst>
          </p:cNvPr>
          <p:cNvSpPr>
            <a:spLocks noGrp="1"/>
          </p:cNvSpPr>
          <p:nvPr/>
        </p:nvSpPr>
        <p:spPr>
          <a:xfrm>
            <a:off x="7578050" y="442110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lang="en-US" sz="1800" b="1" kern="12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Ana Costa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C5C6497C-70E0-BABE-01B4-0DEF8E287300}"/>
              </a:ext>
            </a:extLst>
          </p:cNvPr>
          <p:cNvSpPr>
            <a:spLocks noGrp="1"/>
          </p:cNvSpPr>
          <p:nvPr/>
        </p:nvSpPr>
        <p:spPr>
          <a:xfrm>
            <a:off x="7578050" y="4786865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lang="en-US" sz="1400" kern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Citizen</a:t>
            </a:r>
          </a:p>
        </p:txBody>
      </p:sp>
      <p:pic>
        <p:nvPicPr>
          <p:cNvPr id="24" name="Picture 23" descr="A colorful circle with black background&#10;&#10;AI-generated content may be incorrect.">
            <a:extLst>
              <a:ext uri="{FF2B5EF4-FFF2-40B4-BE49-F238E27FC236}">
                <a16:creationId xmlns:a16="http://schemas.microsoft.com/office/drawing/2014/main" id="{8B38F350-DD1C-0F06-03DD-B03D2B7AA5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7"/>
          <a:stretch>
            <a:fillRect/>
          </a:stretch>
        </p:blipFill>
        <p:spPr>
          <a:xfrm>
            <a:off x="1257983" y="1389951"/>
            <a:ext cx="3256039" cy="3226435"/>
          </a:xfrm>
          <a:prstGeom prst="rect">
            <a:avLst/>
          </a:prstGeom>
        </p:spPr>
      </p:pic>
      <p:pic>
        <p:nvPicPr>
          <p:cNvPr id="25" name="Picture 24" descr="A colorful circle with black background&#10;&#10;AI-generated content may be incorrect.">
            <a:extLst>
              <a:ext uri="{FF2B5EF4-FFF2-40B4-BE49-F238E27FC236}">
                <a16:creationId xmlns:a16="http://schemas.microsoft.com/office/drawing/2014/main" id="{2FE3DE73-9F73-BE24-D768-2AD6E58A21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7"/>
          <a:stretch>
            <a:fillRect/>
          </a:stretch>
        </p:blipFill>
        <p:spPr>
          <a:xfrm rot="17935271">
            <a:off x="4135171" y="1389951"/>
            <a:ext cx="3256039" cy="3226435"/>
          </a:xfrm>
          <a:prstGeom prst="rect">
            <a:avLst/>
          </a:prstGeom>
        </p:spPr>
      </p:pic>
      <p:pic>
        <p:nvPicPr>
          <p:cNvPr id="26" name="Picture 25" descr="A colorful circle with black background&#10;&#10;AI-generated content may be incorrect.">
            <a:extLst>
              <a:ext uri="{FF2B5EF4-FFF2-40B4-BE49-F238E27FC236}">
                <a16:creationId xmlns:a16="http://schemas.microsoft.com/office/drawing/2014/main" id="{868F8421-6D01-D815-68EF-7407DDDD77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7"/>
          <a:stretch>
            <a:fillRect/>
          </a:stretch>
        </p:blipFill>
        <p:spPr>
          <a:xfrm rot="8353523">
            <a:off x="6928289" y="1389951"/>
            <a:ext cx="3256039" cy="3226435"/>
          </a:xfrm>
          <a:prstGeom prst="rect">
            <a:avLst/>
          </a:prstGeom>
        </p:spPr>
      </p:pic>
      <p:pic>
        <p:nvPicPr>
          <p:cNvPr id="35" name="Picture Placeholder 5" descr="sofia-marques.jpg">
            <a:extLst>
              <a:ext uri="{FF2B5EF4-FFF2-40B4-BE49-F238E27FC236}">
                <a16:creationId xmlns:a16="http://schemas.microsoft.com/office/drawing/2014/main" id="{9F5464F9-7264-86C4-A975-B895D8F661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039987" y="2145297"/>
            <a:ext cx="1707815" cy="1707816"/>
          </a:xfrm>
          <a:prstGeom prst="ellipse">
            <a:avLst/>
          </a:prstGeom>
        </p:spPr>
      </p:pic>
      <p:pic>
        <p:nvPicPr>
          <p:cNvPr id="37" name="Picture Placeholder 8" descr="tiago-ferreira.jpg">
            <a:extLst>
              <a:ext uri="{FF2B5EF4-FFF2-40B4-BE49-F238E27FC236}">
                <a16:creationId xmlns:a16="http://schemas.microsoft.com/office/drawing/2014/main" id="{F251A903-2DBA-3C7A-F05D-703221ADD0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910690" y="2145298"/>
            <a:ext cx="1701130" cy="1701130"/>
          </a:xfrm>
          <a:prstGeom prst="ellipse">
            <a:avLst/>
          </a:prstGeom>
        </p:spPr>
      </p:pic>
      <p:pic>
        <p:nvPicPr>
          <p:cNvPr id="39" name="Picture Placeholder 11" descr="ana-costa.jpg">
            <a:extLst>
              <a:ext uri="{FF2B5EF4-FFF2-40B4-BE49-F238E27FC236}">
                <a16:creationId xmlns:a16="http://schemas.microsoft.com/office/drawing/2014/main" id="{0BFA52AB-64E3-A671-D1ED-F6869524646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714548" y="2145298"/>
            <a:ext cx="1687762" cy="1694446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BBB7E-C97D-3336-980B-10F2FAFCE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4D2F2D9F-CE1F-BE70-E15D-4849E4B48A03}"/>
              </a:ext>
            </a:extLst>
          </p:cNvPr>
          <p:cNvSpPr txBox="1"/>
          <p:nvPr/>
        </p:nvSpPr>
        <p:spPr>
          <a:xfrm>
            <a:off x="10737850" y="60877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400">
                <a:solidFill>
                  <a:srgbClr val="5C5F66"/>
                </a:solidFill>
              </a:rPr>
              <a:t>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A3A0A1-6993-0B59-BFFD-CA7F7C71E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lide Number">
            <a:extLst>
              <a:ext uri="{FF2B5EF4-FFF2-40B4-BE49-F238E27FC236}">
                <a16:creationId xmlns:a16="http://schemas.microsoft.com/office/drawing/2014/main" id="{10458D6F-102B-170C-169F-279CE7FD8757}"/>
              </a:ext>
            </a:extLst>
          </p:cNvPr>
          <p:cNvSpPr txBox="1"/>
          <p:nvPr/>
        </p:nvSpPr>
        <p:spPr>
          <a:xfrm>
            <a:off x="10737850" y="609500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43327B17-8B30-4003-8DF7-51FBD7F1C76A}" type="slidenum">
              <a:rPr lang="en-US" sz="1400" dirty="0">
                <a:solidFill>
                  <a:srgbClr val="5C5F66"/>
                </a:solidFill>
              </a:rPr>
              <a:t>5</a:t>
            </a:fld>
            <a:endParaRPr lang="en-US" sz="1400">
              <a:solidFill>
                <a:srgbClr val="5C5F66"/>
              </a:solidFill>
            </a:endParaRPr>
          </a:p>
        </p:txBody>
      </p:sp>
      <p:pic>
        <p:nvPicPr>
          <p:cNvPr id="2" name="Picture 1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2D09B8C6-7063-B93B-C74F-6E2F939393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99" b="680"/>
          <a:stretch>
            <a:fillRect/>
          </a:stretch>
        </p:blipFill>
        <p:spPr>
          <a:xfrm>
            <a:off x="11276720" y="5913614"/>
            <a:ext cx="700630" cy="62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320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3BBAD-F888-49EC-7A64-B68E52B02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EE5F09-901A-85D4-FEFD-23864C5F9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lide Number">
            <a:extLst>
              <a:ext uri="{FF2B5EF4-FFF2-40B4-BE49-F238E27FC236}">
                <a16:creationId xmlns:a16="http://schemas.microsoft.com/office/drawing/2014/main" id="{475E7F80-6D9F-D190-4249-E53F7A59364E}"/>
              </a:ext>
            </a:extLst>
          </p:cNvPr>
          <p:cNvSpPr txBox="1"/>
          <p:nvPr/>
        </p:nvSpPr>
        <p:spPr>
          <a:xfrm>
            <a:off x="10727017" y="6098644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43327B17-8B30-4003-8DF7-51FBD7F1C76A}" type="slidenum">
              <a:rPr lang="en-US" sz="1400" dirty="0">
                <a:solidFill>
                  <a:srgbClr val="5C5F66"/>
                </a:solidFill>
              </a:rPr>
              <a:t>6</a:t>
            </a:fld>
            <a:endParaRPr lang="en-US" sz="1400">
              <a:solidFill>
                <a:srgbClr val="5C5F66"/>
              </a:solidFill>
            </a:endParaRPr>
          </a:p>
        </p:txBody>
      </p:sp>
      <p:pic>
        <p:nvPicPr>
          <p:cNvPr id="2" name="Picture 1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DAA77072-C7A0-55BE-5DE3-1B97270E4B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99" b="680"/>
          <a:stretch>
            <a:fillRect/>
          </a:stretch>
        </p:blipFill>
        <p:spPr>
          <a:xfrm>
            <a:off x="11281201" y="5914652"/>
            <a:ext cx="700630" cy="62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914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E0945-04F6-7EC1-FA24-8677F86FC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ABF1BE-FFE2-35D9-E8DD-28815120D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lide Number">
            <a:extLst>
              <a:ext uri="{FF2B5EF4-FFF2-40B4-BE49-F238E27FC236}">
                <a16:creationId xmlns:a16="http://schemas.microsoft.com/office/drawing/2014/main" id="{BB05B91B-7C4D-5E56-43F4-B5A10AD208B0}"/>
              </a:ext>
            </a:extLst>
          </p:cNvPr>
          <p:cNvSpPr txBox="1"/>
          <p:nvPr/>
        </p:nvSpPr>
        <p:spPr>
          <a:xfrm>
            <a:off x="10760261" y="6111193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43327B17-8B30-4003-8DF7-51FBD7F1C76A}" type="slidenum">
              <a:rPr lang="en-US" sz="1400" dirty="0">
                <a:solidFill>
                  <a:srgbClr val="5C5F66"/>
                </a:solidFill>
              </a:rPr>
              <a:t>7</a:t>
            </a:fld>
            <a:endParaRPr lang="en-US" sz="1400">
              <a:solidFill>
                <a:srgbClr val="5C5F66"/>
              </a:solidFill>
            </a:endParaRPr>
          </a:p>
        </p:txBody>
      </p:sp>
      <p:pic>
        <p:nvPicPr>
          <p:cNvPr id="2" name="Picture 1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AF7A69CD-E704-6F8D-C09D-0F10AAF33B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99" b="680"/>
          <a:stretch>
            <a:fillRect/>
          </a:stretch>
        </p:blipFill>
        <p:spPr>
          <a:xfrm>
            <a:off x="11276719" y="5914651"/>
            <a:ext cx="700630" cy="62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1253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34201-4974-D682-3DD8-DC8A312B1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d Omnia - a thousand nos">
            <a:hlinkClick r:id="" action="ppaction://media"/>
            <a:extLst>
              <a:ext uri="{FF2B5EF4-FFF2-40B4-BE49-F238E27FC236}">
                <a16:creationId xmlns:a16="http://schemas.microsoft.com/office/drawing/2014/main" id="{C63E7FF3-2DAB-9EDB-D3D1-F4BB4B821CC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615F5E6-F970-A8DC-CF2E-2BDBA5933804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812800" y="7493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/>
              <a:t>Identity Guidelines: </a:t>
            </a:r>
            <a:br>
              <a:rPr lang="en-US"/>
            </a:br>
            <a:r>
              <a:rPr lang="en-US"/>
              <a:t>“A Thousand No’s”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662C875D-76BD-89C0-0B0C-8DC984838FAF}"/>
              </a:ext>
            </a:extLst>
          </p:cNvPr>
          <p:cNvSpPr txBox="1"/>
          <p:nvPr/>
        </p:nvSpPr>
        <p:spPr>
          <a:xfrm>
            <a:off x="10737850" y="60877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43327B17-8B30-4003-8DF7-51FBD7F1C76A}" type="slidenum">
              <a:rPr lang="en-US" sz="1400" dirty="0">
                <a:solidFill>
                  <a:srgbClr val="5C5F66"/>
                </a:solidFill>
              </a:rPr>
              <a:t>8</a:t>
            </a:fld>
            <a:endParaRPr lang="en-US" sz="1400">
              <a:solidFill>
                <a:srgbClr val="5C5F66"/>
              </a:solidFill>
            </a:endParaRPr>
          </a:p>
        </p:txBody>
      </p:sp>
      <p:pic>
        <p:nvPicPr>
          <p:cNvPr id="7" name="Picture 6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F2566783-9EF2-402F-9D96-9AD9E1CA74B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99" b="680"/>
          <a:stretch>
            <a:fillRect/>
          </a:stretch>
        </p:blipFill>
        <p:spPr>
          <a:xfrm>
            <a:off x="11278960" y="5924550"/>
            <a:ext cx="700630" cy="62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321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9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0 -0.0509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B0148-378F-A182-A06F-D14FB266C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528999-2DA3-16C2-D9EF-AEE8004F1DBB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24727" y="740007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/>
              <a:t>User Stories – US-1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2B5D5E98-F834-535D-8400-ED58962AE4D5}"/>
              </a:ext>
            </a:extLst>
          </p:cNvPr>
          <p:cNvSpPr txBox="1"/>
          <p:nvPr/>
        </p:nvSpPr>
        <p:spPr>
          <a:xfrm>
            <a:off x="10737850" y="60877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6C286408-FD61-4112-9D33-C08B18E9B401}" type="slidenum">
              <a:rPr lang="en-US" sz="1400" dirty="0">
                <a:solidFill>
                  <a:srgbClr val="5C5F66"/>
                </a:solidFill>
              </a:rPr>
              <a:t>9</a:t>
            </a:fld>
            <a:endParaRPr lang="en-US" sz="1400">
              <a:solidFill>
                <a:srgbClr val="5C5F6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172BA7-C033-A25D-EB7F-2CE35D39AD78}"/>
              </a:ext>
            </a:extLst>
          </p:cNvPr>
          <p:cNvSpPr txBox="1"/>
          <p:nvPr/>
        </p:nvSpPr>
        <p:spPr>
          <a:xfrm>
            <a:off x="524727" y="1428347"/>
            <a:ext cx="4663156" cy="31802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b="1">
                <a:ea typeface="+mn-lt"/>
                <a:cs typeface="+mn-lt"/>
              </a:rPr>
              <a:t>As... </a:t>
            </a:r>
            <a:r>
              <a:rPr lang="en-US" sz="2000">
                <a:ea typeface="+mn-lt"/>
                <a:cs typeface="+mn-lt"/>
              </a:rPr>
              <a:t>a control room operator,</a:t>
            </a:r>
          </a:p>
          <a:p>
            <a:pPr algn="just"/>
            <a:endParaRPr lang="en-US" sz="2000" b="1">
              <a:ea typeface="+mn-lt"/>
              <a:cs typeface="+mn-lt"/>
            </a:endParaRPr>
          </a:p>
          <a:p>
            <a:pPr algn="just"/>
            <a:r>
              <a:rPr lang="en-US" sz="2000" b="1">
                <a:ea typeface="+mn-lt"/>
                <a:cs typeface="+mn-lt"/>
              </a:rPr>
              <a:t>I want...</a:t>
            </a:r>
            <a:r>
              <a:rPr lang="en-US" sz="2000">
                <a:ea typeface="+mn-lt"/>
                <a:cs typeface="+mn-lt"/>
              </a:rPr>
              <a:t> to view on a single real-time map all active incidents and the location and status of resources from every agency, including aerial assets,</a:t>
            </a:r>
            <a:endParaRPr lang="en-US"/>
          </a:p>
          <a:p>
            <a:pPr algn="just"/>
            <a:endParaRPr lang="en-US" sz="2000" b="1">
              <a:ea typeface="+mn-lt"/>
              <a:cs typeface="+mn-lt"/>
            </a:endParaRPr>
          </a:p>
          <a:p>
            <a:pPr algn="just"/>
            <a:r>
              <a:rPr lang="en-US" sz="2000" b="1">
                <a:ea typeface="+mn-lt"/>
                <a:cs typeface="+mn-lt"/>
              </a:rPr>
              <a:t>So that...</a:t>
            </a:r>
            <a:r>
              <a:rPr lang="en-US" sz="2000">
                <a:ea typeface="+mn-lt"/>
                <a:cs typeface="+mn-lt"/>
              </a:rPr>
              <a:t> I have a complete and up-to-date picture of the situation without switching between multiple systems.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5FB0A6A-4E8A-29C3-B803-68E591D7A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147" y="1084088"/>
            <a:ext cx="6473968" cy="40765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29947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77186-37E7-5732-0029-3593C1430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57C17E09-D7B8-AE34-D2D8-16BF2F7806EF}"/>
              </a:ext>
            </a:extLst>
          </p:cNvPr>
          <p:cNvSpPr txBox="1"/>
          <p:nvPr/>
        </p:nvSpPr>
        <p:spPr>
          <a:xfrm>
            <a:off x="10737850" y="60877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43327B17-8B30-4003-8DF7-51FBD7F1C76A}" type="slidenum">
              <a:rPr lang="en-US" sz="1400" dirty="0">
                <a:solidFill>
                  <a:srgbClr val="5C5F66"/>
                </a:solidFill>
              </a:rPr>
              <a:t>10</a:t>
            </a:fld>
            <a:endParaRPr lang="en-US" sz="1400">
              <a:solidFill>
                <a:srgbClr val="5C5F66"/>
              </a:solidFill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A048DAD6-6572-850B-4BEE-B652D20088A4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08000" y="73914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/>
              <a:t>User Stories – US-12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DEF393-4499-431E-BA26-0DDE6D6A915E}"/>
              </a:ext>
            </a:extLst>
          </p:cNvPr>
          <p:cNvSpPr txBox="1"/>
          <p:nvPr/>
        </p:nvSpPr>
        <p:spPr>
          <a:xfrm>
            <a:off x="508000" y="1437640"/>
            <a:ext cx="4663156" cy="28826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b="1">
                <a:solidFill>
                  <a:srgbClr val="161616"/>
                </a:solidFill>
                <a:ea typeface="+mn-lt"/>
                <a:cs typeface="+mn-lt"/>
              </a:rPr>
              <a:t>As...</a:t>
            </a:r>
            <a:r>
              <a:rPr lang="en-US" sz="2000">
                <a:solidFill>
                  <a:srgbClr val="161616"/>
                </a:solidFill>
                <a:ea typeface="+mn-lt"/>
                <a:cs typeface="+mn-lt"/>
              </a:rPr>
              <a:t> an analyst,</a:t>
            </a:r>
            <a:endParaRPr lang="en-US">
              <a:ea typeface="+mn-lt"/>
              <a:cs typeface="+mn-lt"/>
            </a:endParaRPr>
          </a:p>
          <a:p>
            <a:pPr algn="just"/>
            <a:endParaRPr lang="en-US" sz="2000">
              <a:ea typeface="+mn-lt"/>
              <a:cs typeface="+mn-lt"/>
            </a:endParaRPr>
          </a:p>
          <a:p>
            <a:pPr algn="just"/>
            <a:r>
              <a:rPr lang="en-US" sz="2000" b="1">
                <a:solidFill>
                  <a:srgbClr val="161616"/>
                </a:solidFill>
                <a:ea typeface="+mn-lt"/>
                <a:cs typeface="+mn-lt"/>
              </a:rPr>
              <a:t>I want...</a:t>
            </a:r>
            <a:r>
              <a:rPr lang="en-US" sz="2000">
                <a:solidFill>
                  <a:srgbClr val="161616"/>
                </a:solidFill>
                <a:ea typeface="+mn-lt"/>
                <a:cs typeface="+mn-lt"/>
              </a:rPr>
              <a:t> to run simulations using the predictive engine and synthetic data before major events or the start of fire season,</a:t>
            </a:r>
            <a:endParaRPr lang="en-US">
              <a:ea typeface="+mn-lt"/>
              <a:cs typeface="+mn-lt"/>
            </a:endParaRPr>
          </a:p>
          <a:p>
            <a:pPr algn="just"/>
            <a:endParaRPr lang="en-US" sz="2000">
              <a:solidFill>
                <a:srgbClr val="161616"/>
              </a:solidFill>
              <a:ea typeface="+mn-lt"/>
              <a:cs typeface="+mn-lt"/>
            </a:endParaRPr>
          </a:p>
          <a:p>
            <a:pPr algn="just"/>
            <a:r>
              <a:rPr lang="en-US" sz="2000" b="1">
                <a:solidFill>
                  <a:srgbClr val="161616"/>
                </a:solidFill>
                <a:ea typeface="+mn-lt"/>
                <a:cs typeface="+mn-lt"/>
              </a:rPr>
              <a:t>So that...</a:t>
            </a:r>
            <a:r>
              <a:rPr lang="en-US" sz="2000">
                <a:solidFill>
                  <a:srgbClr val="161616"/>
                </a:solidFill>
                <a:ea typeface="+mn-lt"/>
                <a:cs typeface="+mn-lt"/>
              </a:rPr>
              <a:t> I can anticipate likely demand and prepare resource allocation in advance as well as requesting help timely.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9E96995-4751-D461-962E-645F82812D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15" b="172"/>
          <a:stretch>
            <a:fillRect/>
          </a:stretch>
        </p:blipFill>
        <p:spPr>
          <a:xfrm>
            <a:off x="5476240" y="1338262"/>
            <a:ext cx="6720005" cy="41742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93933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8F728-B6FD-3318-8FB7-FCB44E20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99D6C5-035B-DA06-ABEC-7371C239AC05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89280" y="7493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/>
              <a:t>User Stories – US-15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D943085-62F3-11E1-85F2-A79DE648974E}"/>
              </a:ext>
            </a:extLst>
          </p:cNvPr>
          <p:cNvSpPr txBox="1"/>
          <p:nvPr/>
        </p:nvSpPr>
        <p:spPr>
          <a:xfrm>
            <a:off x="10737850" y="60877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6C286408-FD61-4112-9D33-C08B18E9B401}" type="slidenum">
              <a:rPr lang="en-US" sz="1400" dirty="0">
                <a:solidFill>
                  <a:srgbClr val="5C5F66"/>
                </a:solidFill>
              </a:rPr>
              <a:t>11</a:t>
            </a:fld>
            <a:endParaRPr lang="en-US" sz="1400">
              <a:solidFill>
                <a:srgbClr val="5C5F6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9521E8-E480-E86E-EFBC-5DD01B9F08D7}"/>
              </a:ext>
            </a:extLst>
          </p:cNvPr>
          <p:cNvSpPr txBox="1"/>
          <p:nvPr/>
        </p:nvSpPr>
        <p:spPr>
          <a:xfrm>
            <a:off x="589280" y="1468120"/>
            <a:ext cx="4663156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b="1">
                <a:solidFill>
                  <a:srgbClr val="161616"/>
                </a:solidFill>
                <a:ea typeface="+mn-lt"/>
                <a:cs typeface="+mn-lt"/>
              </a:rPr>
              <a:t>As...</a:t>
            </a:r>
            <a:r>
              <a:rPr lang="en-US" sz="2000">
                <a:solidFill>
                  <a:srgbClr val="161616"/>
                </a:solidFill>
                <a:ea typeface="+mn-lt"/>
                <a:cs typeface="+mn-lt"/>
              </a:rPr>
              <a:t> a citizen,</a:t>
            </a:r>
            <a:endParaRPr lang="en-US">
              <a:ea typeface="+mn-lt"/>
              <a:cs typeface="+mn-lt"/>
            </a:endParaRPr>
          </a:p>
          <a:p>
            <a:pPr algn="just"/>
            <a:endParaRPr lang="en-US" sz="2000" b="1">
              <a:solidFill>
                <a:srgbClr val="161616"/>
              </a:solidFill>
              <a:ea typeface="+mn-lt"/>
              <a:cs typeface="+mn-lt"/>
            </a:endParaRPr>
          </a:p>
          <a:p>
            <a:pPr algn="just"/>
            <a:r>
              <a:rPr lang="en-US" sz="2000" b="1">
                <a:solidFill>
                  <a:srgbClr val="161616"/>
                </a:solidFill>
                <a:ea typeface="+mn-lt"/>
                <a:cs typeface="+mn-lt"/>
              </a:rPr>
              <a:t>I want...</a:t>
            </a:r>
            <a:r>
              <a:rPr lang="en-US" sz="2000">
                <a:solidFill>
                  <a:srgbClr val="161616"/>
                </a:solidFill>
                <a:ea typeface="+mn-lt"/>
                <a:cs typeface="+mn-lt"/>
              </a:rPr>
              <a:t> to see the active emergencies of any type on a simple map,</a:t>
            </a:r>
            <a:endParaRPr lang="en-US">
              <a:ea typeface="+mn-lt"/>
              <a:cs typeface="+mn-lt"/>
            </a:endParaRPr>
          </a:p>
          <a:p>
            <a:pPr algn="just"/>
            <a:endParaRPr lang="en-US" sz="2000" b="1">
              <a:solidFill>
                <a:srgbClr val="161616"/>
              </a:solidFill>
              <a:ea typeface="+mn-lt"/>
              <a:cs typeface="+mn-lt"/>
            </a:endParaRPr>
          </a:p>
          <a:p>
            <a:pPr algn="just"/>
            <a:r>
              <a:rPr lang="en-US" sz="2000" b="1">
                <a:solidFill>
                  <a:srgbClr val="161616"/>
                </a:solidFill>
                <a:ea typeface="+mn-lt"/>
                <a:cs typeface="+mn-lt"/>
              </a:rPr>
              <a:t>So that...</a:t>
            </a:r>
            <a:r>
              <a:rPr lang="en-US" sz="2000">
                <a:solidFill>
                  <a:srgbClr val="161616"/>
                </a:solidFill>
                <a:ea typeface="+mn-lt"/>
                <a:cs typeface="+mn-lt"/>
              </a:rPr>
              <a:t> I can quickly tell whether there is an emergency near my home, my family or my route, without relying on social media or unofficial sources.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872E97E-0257-C967-B3EC-F15AD392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56" r="-175"/>
          <a:stretch>
            <a:fillRect/>
          </a:stretch>
        </p:blipFill>
        <p:spPr>
          <a:xfrm>
            <a:off x="5800685" y="1351280"/>
            <a:ext cx="6246300" cy="41554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78998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2C9F6-3EC7-10AB-8A26-866280333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58E6FB3C-B353-3F16-F128-41951B6534D0}"/>
              </a:ext>
            </a:extLst>
          </p:cNvPr>
          <p:cNvSpPr txBox="1"/>
          <p:nvPr/>
        </p:nvSpPr>
        <p:spPr>
          <a:xfrm>
            <a:off x="10737850" y="60877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6C286408-FD61-4112-9D33-C08B18E9B401}" type="slidenum">
              <a:rPr lang="en-US" sz="1400" dirty="0">
                <a:solidFill>
                  <a:srgbClr val="5C5F66"/>
                </a:solidFill>
              </a:rPr>
              <a:t>12</a:t>
            </a:fld>
            <a:endParaRPr lang="en-US" sz="1400">
              <a:solidFill>
                <a:srgbClr val="5C5F66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C98E50-62A4-976C-C84E-4EFB56A3A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125" y="193040"/>
            <a:ext cx="7404390" cy="646176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E8231C7-1284-ACC1-AC58-95261B7A7ABD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812800" y="749300"/>
            <a:ext cx="2786491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/>
              <a:t>Use Cases – During the Crisis</a:t>
            </a:r>
          </a:p>
        </p:txBody>
      </p:sp>
    </p:spTree>
    <p:extLst>
      <p:ext uri="{BB962C8B-B14F-4D97-AF65-F5344CB8AC3E}">
        <p14:creationId xmlns:p14="http://schemas.microsoft.com/office/powerpoint/2010/main" val="115291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18374-5842-FC0A-4C7F-DB8229131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C55845-737F-E189-C3E9-6252107714EB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812800" y="749300"/>
            <a:ext cx="351536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/>
              <a:t>Use Cases – Before and After the Crisis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24CA1519-C8F4-E6A7-8D51-1D002033FE64}"/>
              </a:ext>
            </a:extLst>
          </p:cNvPr>
          <p:cNvSpPr txBox="1"/>
          <p:nvPr/>
        </p:nvSpPr>
        <p:spPr>
          <a:xfrm>
            <a:off x="10737850" y="60877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6C286408-FD61-4112-9D33-C08B18E9B401}" type="slidenum">
              <a:rPr lang="en-US" sz="1400" dirty="0">
                <a:solidFill>
                  <a:srgbClr val="5C5F66"/>
                </a:solidFill>
              </a:rPr>
              <a:t>13</a:t>
            </a:fld>
            <a:endParaRPr lang="en-US" sz="1400">
              <a:solidFill>
                <a:srgbClr val="5C5F6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7F4759-E825-A88A-133E-41E311F0B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412" y="190601"/>
            <a:ext cx="6332295" cy="647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540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800" y="7493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ea typeface="+mj-lt"/>
                <a:cs typeface="+mj-lt"/>
              </a:rPr>
              <a:t>Functional Requirements</a:t>
            </a:r>
            <a:endParaRPr lang="en-US" sz="3600" b="0">
              <a:solidFill>
                <a:srgbClr val="000000"/>
              </a:solidFill>
              <a:ea typeface="+mj-lt"/>
              <a:cs typeface="+mj-lt"/>
            </a:endParaRPr>
          </a:p>
        </p:txBody>
      </p:sp>
      <p:graphicFrame>
        <p:nvGraphicFramePr>
          <p:cNvPr id="9" name="Tim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91967"/>
              </p:ext>
            </p:extLst>
          </p:nvPr>
        </p:nvGraphicFramePr>
        <p:xfrm>
          <a:off x="812800" y="1905000"/>
          <a:ext cx="6984998" cy="4470400"/>
        </p:xfrm>
        <a:graphic>
          <a:graphicData uri="http://schemas.openxmlformats.org/drawingml/2006/table">
            <a:tbl>
              <a:tblPr/>
              <a:tblGrid>
                <a:gridCol w="5079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</a:rPr>
                        <a:t>Data Ingestion (ING)</a:t>
                      </a:r>
                      <a:endParaRPr lang="en-US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2B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latin typeface="JetBrains Mono"/>
                          <a:ea typeface="JetBrains Mono"/>
                        </a:rPr>
                        <a:t>3 items</a:t>
                      </a:r>
                      <a:endParaRPr lang="en-US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2B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</a:rPr>
                        <a:t>Operational Picture (COP)</a:t>
                      </a:r>
                      <a:endParaRPr lang="en-US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2B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C2BBA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latin typeface="JetBrains Mono"/>
                          <a:ea typeface="JetBrains Mono" charset="0"/>
                          <a:cs typeface="JetBrains Mono" charset="0"/>
                        </a:rPr>
                        <a:t>2 items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2B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C2BBA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138955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161616"/>
                          </a:solidFill>
                          <a:latin typeface="Geist"/>
                        </a:rPr>
                        <a:t>Historical analysis (HIST)</a:t>
                      </a:r>
                      <a:endParaRPr lang="en-US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4">
                      <a:solidFill>
                        <a:srgbClr val="C2BBAD"/>
                      </a:solidFill>
                    </a:lnT>
                    <a:lnB w="9525" cap="flat" cmpd="sng" algn="ctr">
                      <a:solidFill>
                        <a:srgbClr val="C2B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latin typeface="JetBrains Mono"/>
                          <a:ea typeface="JetBrains Mono"/>
                        </a:rPr>
                        <a:t>3 items</a:t>
                      </a:r>
                      <a:endParaRPr lang="en-US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4">
                      <a:solidFill>
                        <a:srgbClr val="C2BBAD"/>
                      </a:solidFill>
                    </a:lnT>
                    <a:lnB w="9525" cap="flat" cmpd="sng" algn="ctr">
                      <a:solidFill>
                        <a:srgbClr val="C2B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161616"/>
                          </a:solidFill>
                          <a:latin typeface="Geist"/>
                        </a:rPr>
                        <a:t>Incident and resource management (INC)</a:t>
                      </a:r>
                      <a:endParaRPr lang="en-US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2B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2B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latin typeface="JetBrains Mono"/>
                          <a:ea typeface="JetBrains Mono" charset="0"/>
                          <a:cs typeface="JetBrains Mono" charset="0"/>
                        </a:rPr>
                        <a:t>3 items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2B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2B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161616"/>
                          </a:solidFill>
                          <a:latin typeface="Geist"/>
                        </a:rPr>
                        <a:t>Alerts (ALR)</a:t>
                      </a:r>
                      <a:endParaRPr lang="en-US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2B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latin typeface="JetBrains Mono"/>
                          <a:ea typeface="JetBrains Mono" charset="0"/>
                          <a:cs typeface="JetBrains Mono" charset="0"/>
                        </a:rPr>
                        <a:t>1 item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2B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161616"/>
                          </a:solidFill>
                        </a:rPr>
                        <a:t>Prediction (PRD)</a:t>
                      </a:r>
                      <a:endParaRPr lang="en-US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latin typeface="JetBrains Mono"/>
                          <a:ea typeface="JetBrains Mono" charset="0"/>
                          <a:cs typeface="JetBrains Mono" charset="0"/>
                        </a:rPr>
                        <a:t>5 items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811802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161616"/>
                          </a:solidFill>
                        </a:rPr>
                        <a:t>Recommendation (REC)</a:t>
                      </a:r>
                      <a:endParaRPr lang="en-US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latin typeface="JetBrains Mono"/>
                          <a:ea typeface="JetBrains Mono" charset="0"/>
                          <a:cs typeface="JetBrains Mono" charset="0"/>
                        </a:rPr>
                        <a:t>3 items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9722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161616"/>
                          </a:solidFill>
                        </a:rPr>
                        <a:t>Audit (AUD)</a:t>
                      </a:r>
                      <a:endParaRPr lang="en-US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latin typeface="JetBrains Mono"/>
                          <a:ea typeface="JetBrains Mono" charset="0"/>
                          <a:cs typeface="JetBrains Mono" charset="0"/>
                        </a:rPr>
                        <a:t>2 items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20879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161616"/>
                          </a:solidFill>
                        </a:rPr>
                        <a:t>Export and reporting (EXP)</a:t>
                      </a:r>
                      <a:endParaRPr lang="en-US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latin typeface="JetBrains Mono"/>
                          <a:ea typeface="JetBrains Mono" charset="0"/>
                          <a:cs typeface="JetBrains Mono" charset="0"/>
                        </a:rPr>
                        <a:t>1 item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157788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161616"/>
                          </a:solidFill>
                          <a:latin typeface="Geist"/>
                        </a:rPr>
                        <a:t>Public publishing (PUB)</a:t>
                      </a:r>
                      <a:endParaRPr lang="en-US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latin typeface="JetBrains Mono"/>
                          <a:ea typeface="JetBrains Mono" charset="0"/>
                          <a:cs typeface="JetBrains Mono" charset="0"/>
                        </a:rPr>
                        <a:t>8 items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059372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</a:rPr>
                        <a:t>Total</a:t>
                      </a:r>
                      <a:endParaRPr lang="en-US" sz="160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latin typeface="JetBrains Mono"/>
                          <a:ea typeface="JetBrains Mono" charset="0"/>
                          <a:cs typeface="JetBrains Mono" charset="0"/>
                        </a:rPr>
                        <a:t>31 items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lide Number"/>
          <p:cNvSpPr txBox="1"/>
          <p:nvPr/>
        </p:nvSpPr>
        <p:spPr>
          <a:xfrm>
            <a:off x="10737850" y="60877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F21CAD34-AF99-4C6E-BFBE-CBE17859A844}" type="slidenum">
              <a:rPr lang="en-US" sz="1400" dirty="0">
                <a:solidFill>
                  <a:srgbClr val="5C5F66"/>
                </a:solidFill>
              </a:rPr>
              <a:t>14</a:t>
            </a:fld>
            <a:endParaRPr lang="en-US" sz="1400">
              <a:solidFill>
                <a:srgbClr val="5C5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788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7E2F4-0A1A-1111-9B1A-C009CB3B5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B3899C-DA19-3009-2362-647947E3F0B8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812800" y="7493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ea typeface="+mj-lt"/>
                <a:cs typeface="+mj-lt"/>
              </a:rPr>
              <a:t>Non-Functional Requirements</a:t>
            </a:r>
            <a:endParaRPr lang="en-US" sz="3600" b="0">
              <a:solidFill>
                <a:srgbClr val="000000"/>
              </a:solidFill>
              <a:ea typeface="+mj-lt"/>
              <a:cs typeface="+mj-lt"/>
            </a:endParaRPr>
          </a:p>
        </p:txBody>
      </p:sp>
      <p:graphicFrame>
        <p:nvGraphicFramePr>
          <p:cNvPr id="9" name="Timing table">
            <a:extLst>
              <a:ext uri="{FF2B5EF4-FFF2-40B4-BE49-F238E27FC236}">
                <a16:creationId xmlns:a16="http://schemas.microsoft.com/office/drawing/2014/main" id="{B2DC2766-8CDB-FEFB-F190-3F435F56B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143368"/>
              </p:ext>
            </p:extLst>
          </p:nvPr>
        </p:nvGraphicFramePr>
        <p:xfrm>
          <a:off x="813786" y="1908699"/>
          <a:ext cx="6984997" cy="2844800"/>
        </p:xfrm>
        <a:graphic>
          <a:graphicData uri="http://schemas.openxmlformats.org/drawingml/2006/table">
            <a:tbl>
              <a:tblPr/>
              <a:tblGrid>
                <a:gridCol w="5079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</a:rPr>
                        <a:t>Performance (PERF)</a:t>
                      </a:r>
                      <a:endParaRPr lang="en-US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2B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latin typeface="JetBrains Mono"/>
                          <a:ea typeface="JetBrains Mono"/>
                        </a:rPr>
                        <a:t>2 items</a:t>
                      </a:r>
                      <a:endParaRPr lang="en-US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2B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</a:rPr>
                        <a:t>Availability (AVL)</a:t>
                      </a:r>
                      <a:endParaRPr lang="en-US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2B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C2BBA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latin typeface="JetBrains Mono"/>
                          <a:ea typeface="JetBrains Mono" charset="0"/>
                          <a:cs typeface="JetBrains Mono" charset="0"/>
                        </a:rPr>
                        <a:t>4 items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2B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C2BBA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138955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161616"/>
                          </a:solidFill>
                        </a:rPr>
                        <a:t>Integrity (INT)</a:t>
                      </a:r>
                      <a:endParaRPr lang="en-US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4">
                      <a:solidFill>
                        <a:srgbClr val="C2BBAD"/>
                      </a:solidFill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latin typeface="JetBrains Mono"/>
                          <a:ea typeface="JetBrains Mono" charset="0"/>
                          <a:cs typeface="JetBrains Mono" charset="0"/>
                        </a:rPr>
                        <a:t>1 item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4">
                      <a:solidFill>
                        <a:srgbClr val="C2BBAD"/>
                      </a:solidFill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9722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161616"/>
                          </a:solidFill>
                        </a:rPr>
                        <a:t>Security (SEC)</a:t>
                      </a:r>
                      <a:endParaRPr lang="en-US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latin typeface="JetBrains Mono"/>
                          <a:ea typeface="JetBrains Mono" charset="0"/>
                          <a:cs typeface="JetBrains Mono" charset="0"/>
                        </a:rPr>
                        <a:t>3 items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20879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161616"/>
                          </a:solidFill>
                        </a:rPr>
                        <a:t>Scalability (SCA)</a:t>
                      </a:r>
                      <a:endParaRPr lang="en-US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latin typeface="JetBrains Mono"/>
                          <a:ea typeface="JetBrains Mono" charset="0"/>
                          <a:cs typeface="JetBrains Mono" charset="0"/>
                        </a:rPr>
                        <a:t>1 item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157788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161616"/>
                          </a:solidFill>
                          <a:latin typeface="Geist"/>
                        </a:rPr>
                        <a:t>Usability (USA)</a:t>
                      </a:r>
                      <a:endParaRPr lang="en-US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en-US" sz="1600">
                          <a:solidFill>
                            <a:srgbClr val="161616"/>
                          </a:solidFill>
                          <a:latin typeface="JetBrains Mono"/>
                          <a:ea typeface="JetBrains Mono" charset="0"/>
                          <a:cs typeface="JetBrains Mono" charset="0"/>
                        </a:rPr>
                        <a:t>2 items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16161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059372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</a:rPr>
                        <a:t>Total</a:t>
                      </a:r>
                      <a:endParaRPr lang="en-US" sz="1600"/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>
                          <a:solidFill>
                            <a:srgbClr val="161616"/>
                          </a:solidFill>
                          <a:latin typeface="JetBrains Mono"/>
                          <a:ea typeface="JetBrains Mono" charset="0"/>
                          <a:cs typeface="JetBrains Mono" charset="0"/>
                        </a:rPr>
                        <a:t>13 items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61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lide Number">
            <a:extLst>
              <a:ext uri="{FF2B5EF4-FFF2-40B4-BE49-F238E27FC236}">
                <a16:creationId xmlns:a16="http://schemas.microsoft.com/office/drawing/2014/main" id="{5330E70E-5BEA-1077-37BD-33E9CBF9E94A}"/>
              </a:ext>
            </a:extLst>
          </p:cNvPr>
          <p:cNvSpPr txBox="1"/>
          <p:nvPr/>
        </p:nvSpPr>
        <p:spPr>
          <a:xfrm>
            <a:off x="10737850" y="60877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F21CAD34-AF99-4C6E-BFBE-CBE17859A844}" type="slidenum">
              <a:rPr lang="en-US" sz="1400" dirty="0">
                <a:solidFill>
                  <a:srgbClr val="5C5F66"/>
                </a:solidFill>
              </a:rPr>
              <a:t>15</a:t>
            </a:fld>
            <a:endParaRPr lang="en-US" sz="1400">
              <a:solidFill>
                <a:srgbClr val="5C5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418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30BDA-5D63-67D2-DC64-217647469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5F509E-705D-551C-F430-DE5AD06700FB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812800" y="7493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ea typeface="+mj-lt"/>
                <a:cs typeface="+mj-lt"/>
              </a:rPr>
              <a:t>Assumptions &amp; Dependencies</a:t>
            </a:r>
            <a:endParaRPr lang="en-US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FF8AD873-ABB1-4571-409F-1CD10E9DC206}"/>
              </a:ext>
            </a:extLst>
          </p:cNvPr>
          <p:cNvSpPr txBox="1"/>
          <p:nvPr/>
        </p:nvSpPr>
        <p:spPr>
          <a:xfrm>
            <a:off x="10737850" y="60877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F21CAD34-AF99-4C6E-BFBE-CBE17859A844}" type="slidenum">
              <a:rPr lang="en-US" sz="1400" dirty="0">
                <a:solidFill>
                  <a:srgbClr val="5C5F66"/>
                </a:solidFill>
              </a:rPr>
              <a:t>16</a:t>
            </a:fld>
            <a:endParaRPr lang="en-US" sz="1400">
              <a:solidFill>
                <a:srgbClr val="5C5F6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CB254E-25B7-C4F3-C6AA-C09414D3706F}"/>
              </a:ext>
            </a:extLst>
          </p:cNvPr>
          <p:cNvSpPr txBox="1"/>
          <p:nvPr/>
        </p:nvSpPr>
        <p:spPr>
          <a:xfrm>
            <a:off x="812800" y="1440093"/>
            <a:ext cx="10162732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Calibri"/>
              <a:buChar char="-"/>
            </a:pPr>
            <a:r>
              <a:rPr lang="en-US" sz="2000">
                <a:ea typeface="+mn-lt"/>
                <a:cs typeface="+mn-lt"/>
              </a:rPr>
              <a:t>This project is a proof of concept rather than a final solution.</a:t>
            </a:r>
            <a:endParaRPr lang="en-US"/>
          </a:p>
          <a:p>
            <a:pPr algn="just"/>
            <a:endParaRPr lang="en-US" sz="2000">
              <a:ea typeface="+mn-lt"/>
              <a:cs typeface="+mn-lt"/>
            </a:endParaRPr>
          </a:p>
          <a:p>
            <a:pPr marL="342900" indent="-342900" algn="just">
              <a:buFont typeface="Calibri"/>
              <a:buChar char="-"/>
            </a:pPr>
            <a:r>
              <a:rPr lang="en-US" sz="2000">
                <a:ea typeface="+mn-lt"/>
                <a:cs typeface="+mn-lt"/>
              </a:rPr>
              <a:t>Some data is classified and some APIs are not public. </a:t>
            </a:r>
          </a:p>
          <a:p>
            <a:pPr algn="just"/>
            <a:endParaRPr lang="en-US" sz="2000">
              <a:ea typeface="+mn-lt"/>
              <a:cs typeface="+mn-lt"/>
            </a:endParaRPr>
          </a:p>
          <a:p>
            <a:pPr marL="342900" indent="-342900" algn="just">
              <a:buFont typeface="Calibri"/>
              <a:buChar char="-"/>
            </a:pPr>
            <a:r>
              <a:rPr lang="en-US" sz="2000">
                <a:ea typeface="+mn-lt"/>
                <a:cs typeface="+mn-lt"/>
              </a:rPr>
              <a:t>Predictive AI module can run on synthetic/simulated data.</a:t>
            </a:r>
            <a:endParaRPr lang="en-US">
              <a:ea typeface="+mn-lt"/>
              <a:cs typeface="+mn-lt"/>
            </a:endParaRPr>
          </a:p>
          <a:p>
            <a:pPr algn="just"/>
            <a:endParaRPr lang="en-US" sz="2000">
              <a:ea typeface="+mn-lt"/>
              <a:cs typeface="+mn-lt"/>
            </a:endParaRPr>
          </a:p>
          <a:p>
            <a:pPr marL="342900" indent="-342900" algn="just">
              <a:buFont typeface="Calibri"/>
              <a:buChar char="-"/>
            </a:pPr>
            <a:r>
              <a:rPr lang="en-US" sz="2000">
                <a:ea typeface="+mn-lt"/>
                <a:cs typeface="+mn-lt"/>
              </a:rPr>
              <a:t>Field responders stay off-platform (orders reach them outside the app)</a:t>
            </a:r>
            <a:endParaRPr lang="en-US" sz="2000"/>
          </a:p>
          <a:p>
            <a:pPr algn="just"/>
            <a:endParaRPr lang="en-US" sz="2000">
              <a:ea typeface="+mn-lt"/>
              <a:cs typeface="+mn-lt"/>
            </a:endParaRPr>
          </a:p>
          <a:p>
            <a:pPr marL="342900" indent="-342900" algn="just">
              <a:buFont typeface="Calibri"/>
              <a:buChar char="-"/>
            </a:pPr>
            <a:r>
              <a:rPr lang="en-US" sz="2000">
                <a:ea typeface="+mn-lt"/>
                <a:cs typeface="+mn-lt"/>
              </a:rPr>
              <a:t>External source APIs (Fogos.pt, ADS-B) - breaking changes or access loss would block those plugins.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857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971F1-A20F-F5BF-EABB-541F028BA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7EB598-DF2F-E8E3-BF19-6A1ECCBF00E2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812800" y="1905000"/>
            <a:ext cx="889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>
                <a:latin typeface="Geist"/>
                <a:ea typeface="Calibri"/>
                <a:cs typeface="Calibri"/>
              </a:rPr>
              <a:t>"To create, one must first question everything."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C24EDB9-3329-1966-6026-3F8ECD9CA8FA}"/>
              </a:ext>
            </a:extLst>
          </p:cNvPr>
          <p:cNvSpPr>
            <a:spLocks noGrp="1"/>
          </p:cNvSpPr>
          <p:nvPr>
            <p:ph type="body" idx="102" hasCustomPrompt="1"/>
          </p:nvPr>
        </p:nvSpPr>
        <p:spPr>
          <a:xfrm>
            <a:off x="812800" y="4191000"/>
            <a:ext cx="698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Calibri"/>
              <a:buChar char="-"/>
            </a:pPr>
            <a:r>
              <a:rPr lang="en-US" i="1"/>
              <a:t>Eileen Gray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3F50F4AF-449A-9974-7FCB-539EF443A00D}"/>
              </a:ext>
            </a:extLst>
          </p:cNvPr>
          <p:cNvSpPr txBox="1"/>
          <p:nvPr/>
        </p:nvSpPr>
        <p:spPr>
          <a:xfrm>
            <a:off x="10737850" y="60877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400">
                <a:solidFill>
                  <a:srgbClr val="5C5F66"/>
                </a:solidFill>
              </a:rPr>
              <a:t>16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532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3273A-6646-00C8-8B3B-E39C21699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0331F1-963E-F7F1-3600-E65852AF651F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812800" y="7493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ea typeface="+mj-lt"/>
                <a:cs typeface="+mj-lt"/>
              </a:rPr>
              <a:t>Updated State-of-Art</a:t>
            </a:r>
            <a:endParaRPr lang="en-US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5597C4A6-572B-910E-6C56-ABA751A721F4}"/>
              </a:ext>
            </a:extLst>
          </p:cNvPr>
          <p:cNvSpPr txBox="1"/>
          <p:nvPr/>
        </p:nvSpPr>
        <p:spPr>
          <a:xfrm>
            <a:off x="10737850" y="60877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F21CAD34-AF99-4C6E-BFBE-CBE17859A844}" type="slidenum">
              <a:rPr lang="en-US" sz="1400" dirty="0">
                <a:solidFill>
                  <a:srgbClr val="5C5F66"/>
                </a:solidFill>
              </a:rPr>
              <a:t>18</a:t>
            </a:fld>
            <a:endParaRPr lang="en-US" sz="1400">
              <a:solidFill>
                <a:srgbClr val="5C5F66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680F18-39BB-01D1-F5D1-78C881EB8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390905"/>
              </p:ext>
            </p:extLst>
          </p:nvPr>
        </p:nvGraphicFramePr>
        <p:xfrm>
          <a:off x="520390" y="1449657"/>
          <a:ext cx="11146821" cy="4369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9487">
                  <a:extLst>
                    <a:ext uri="{9D8B030D-6E8A-4147-A177-3AD203B41FA5}">
                      <a16:colId xmlns:a16="http://schemas.microsoft.com/office/drawing/2014/main" val="1065144933"/>
                    </a:ext>
                  </a:extLst>
                </a:gridCol>
                <a:gridCol w="1177889">
                  <a:extLst>
                    <a:ext uri="{9D8B030D-6E8A-4147-A177-3AD203B41FA5}">
                      <a16:colId xmlns:a16="http://schemas.microsoft.com/office/drawing/2014/main" val="2408780276"/>
                    </a:ext>
                  </a:extLst>
                </a:gridCol>
                <a:gridCol w="1177889">
                  <a:extLst>
                    <a:ext uri="{9D8B030D-6E8A-4147-A177-3AD203B41FA5}">
                      <a16:colId xmlns:a16="http://schemas.microsoft.com/office/drawing/2014/main" val="3854032774"/>
                    </a:ext>
                  </a:extLst>
                </a:gridCol>
                <a:gridCol w="1177889">
                  <a:extLst>
                    <a:ext uri="{9D8B030D-6E8A-4147-A177-3AD203B41FA5}">
                      <a16:colId xmlns:a16="http://schemas.microsoft.com/office/drawing/2014/main" val="457221541"/>
                    </a:ext>
                  </a:extLst>
                </a:gridCol>
                <a:gridCol w="1177889">
                  <a:extLst>
                    <a:ext uri="{9D8B030D-6E8A-4147-A177-3AD203B41FA5}">
                      <a16:colId xmlns:a16="http://schemas.microsoft.com/office/drawing/2014/main" val="875037680"/>
                    </a:ext>
                  </a:extLst>
                </a:gridCol>
                <a:gridCol w="1177889">
                  <a:extLst>
                    <a:ext uri="{9D8B030D-6E8A-4147-A177-3AD203B41FA5}">
                      <a16:colId xmlns:a16="http://schemas.microsoft.com/office/drawing/2014/main" val="4034329105"/>
                    </a:ext>
                  </a:extLst>
                </a:gridCol>
                <a:gridCol w="1177889">
                  <a:extLst>
                    <a:ext uri="{9D8B030D-6E8A-4147-A177-3AD203B41FA5}">
                      <a16:colId xmlns:a16="http://schemas.microsoft.com/office/drawing/2014/main" val="4020405411"/>
                    </a:ext>
                  </a:extLst>
                </a:gridCol>
              </a:tblGrid>
              <a:tr h="69695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 Feature</a:t>
                      </a:r>
                    </a:p>
                  </a:txBody>
                  <a:tcPr anchor="ctr">
                    <a:lnL w="0">
                      <a:noFill/>
                    </a:lnL>
                    <a:lnR w="28575">
                      <a:solidFill>
                        <a:schemeClr val="bg1"/>
                      </a:solidFill>
                    </a:lnR>
                    <a:lnT w="0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A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Palantir</a:t>
                      </a:r>
                    </a:p>
                    <a:p>
                      <a:pPr lvl="0" algn="ctr">
                        <a:buNone/>
                      </a:pPr>
                      <a:r>
                        <a:rPr lang="en-US" b="0"/>
                        <a:t>Gotham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0">
                      <a:noFill/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D1A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Thales</a:t>
                      </a:r>
                    </a:p>
                    <a:p>
                      <a:pPr lvl="0" algn="ctr">
                        <a:buNone/>
                      </a:pPr>
                      <a:r>
                        <a:rPr lang="en-US" b="0" err="1"/>
                        <a:t>Hexforce</a:t>
                      </a:r>
                      <a:endParaRPr lang="en-US" b="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0">
                      <a:noFill/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D1A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SADO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0">
                      <a:noFill/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D1A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Octave </a:t>
                      </a:r>
                      <a:r>
                        <a:rPr lang="en-US" b="0" err="1"/>
                        <a:t>OnCall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0">
                      <a:noFill/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D1A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Esri ArcGIS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0">
                      <a:noFill/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D1A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Ad Omnia</a:t>
                      </a: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179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915435"/>
                  </a:ext>
                </a:extLst>
              </a:tr>
              <a:tr h="459044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Decision Logging and Auditability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●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◐</a:t>
                      </a:r>
                      <a:endParaRPr lang="en-US" sz="18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○</a:t>
                      </a:r>
                      <a:endParaRPr lang="en-US" sz="24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●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◐</a:t>
                      </a:r>
                      <a:endParaRPr lang="en-US" sz="18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bg1"/>
                          </a:solidFill>
                          <a:latin typeface="Geist"/>
                        </a:rPr>
                        <a:t>●</a:t>
                      </a:r>
                      <a:endParaRPr lang="en-US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1BA18A">
                        <a:alpha val="5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148898"/>
                  </a:ext>
                </a:extLst>
              </a:tr>
              <a:tr h="45904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Visual AI Prediction with Confidence Scores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◐</a:t>
                      </a:r>
                      <a:endParaRPr lang="en-US" sz="18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◐</a:t>
                      </a:r>
                      <a:endParaRPr lang="en-US" sz="18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○</a:t>
                      </a:r>
                      <a:endParaRPr lang="en-US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◐</a:t>
                      </a:r>
                      <a:endParaRPr lang="en-US" sz="18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2400"/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bg1"/>
                          </a:solidFill>
                          <a:latin typeface="Geist"/>
                        </a:rPr>
                        <a:t>●</a:t>
                      </a:r>
                      <a:endParaRPr lang="en-US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1BA18A">
                        <a:alpha val="5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691323"/>
                  </a:ext>
                </a:extLst>
              </a:tr>
              <a:tr h="459044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Integrated Public Warning Publishing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○</a:t>
                      </a:r>
                      <a:endParaRPr lang="en-US" sz="24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○</a:t>
                      </a:r>
                      <a:endParaRPr lang="en-US" sz="24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◐</a:t>
                      </a:r>
                      <a:endParaRPr lang="en-US" sz="18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</a:rPr>
                        <a:t>◐</a:t>
                      </a:r>
                      <a:endParaRPr lang="en-US" sz="1800" b="0" i="0" u="none" strike="noStrike" noProof="0">
                        <a:solidFill>
                          <a:srgbClr val="161616"/>
                        </a:solidFill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◐</a:t>
                      </a:r>
                      <a:endParaRPr lang="en-US" sz="18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bg1"/>
                          </a:solidFill>
                          <a:latin typeface="Geist"/>
                        </a:rPr>
                        <a:t>●</a:t>
                      </a:r>
                      <a:endParaRPr lang="en-US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1BA18A">
                        <a:alpha val="5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229353"/>
                  </a:ext>
                </a:extLst>
              </a:tr>
              <a:tr h="459044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Historic Multi-Filter Incident Analytics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●</a:t>
                      </a:r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◐</a:t>
                      </a:r>
                      <a:endParaRPr lang="en-US" sz="18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◐</a:t>
                      </a:r>
                      <a:endParaRPr lang="en-US" sz="18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US" sz="2400" b="0" i="0" u="none" strike="noStrike" noProof="0">
                        <a:solidFill>
                          <a:srgbClr val="161616"/>
                        </a:solidFill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●</a:t>
                      </a:r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bg1"/>
                          </a:solidFill>
                          <a:latin typeface="Geist"/>
                        </a:rPr>
                        <a:t>●</a:t>
                      </a:r>
                      <a:endParaRPr lang="en-US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1BA18A">
                        <a:alpha val="5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30308"/>
                  </a:ext>
                </a:extLst>
              </a:tr>
              <a:tr h="459044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Synthetic Data and Scenario Simulation Engine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◐</a:t>
                      </a:r>
                      <a:endParaRPr lang="en-US" sz="18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◐</a:t>
                      </a:r>
                      <a:endParaRPr lang="en-US" sz="18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○</a:t>
                      </a:r>
                      <a:endParaRPr lang="en-US" sz="24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○</a:t>
                      </a:r>
                      <a:endParaRPr lang="en-US" sz="24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◐</a:t>
                      </a:r>
                      <a:endParaRPr lang="en-US" sz="18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bg1"/>
                          </a:solidFill>
                          <a:latin typeface="Geist"/>
                        </a:rPr>
                        <a:t>●</a:t>
                      </a:r>
                      <a:endParaRPr lang="en-US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1BA18A">
                        <a:alpha val="5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343327"/>
                  </a:ext>
                </a:extLst>
              </a:tr>
              <a:tr h="459044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Extreme Demand &amp; Resource Stress Testing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◐</a:t>
                      </a:r>
                      <a:endParaRPr lang="en-US" sz="18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○</a:t>
                      </a:r>
                      <a:endParaRPr lang="en-US" sz="24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○</a:t>
                      </a:r>
                      <a:endParaRPr lang="en-US" sz="24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○</a:t>
                      </a:r>
                      <a:endParaRPr lang="en-US" sz="24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</a:rPr>
                        <a:t>◐</a:t>
                      </a:r>
                      <a:endParaRPr lang="en-US" sz="1800" b="0" i="0" u="none" strike="noStrike" noProof="0">
                        <a:solidFill>
                          <a:srgbClr val="161616"/>
                        </a:solidFill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bg1"/>
                          </a:solidFill>
                          <a:latin typeface="Geist"/>
                        </a:rPr>
                        <a:t>●</a:t>
                      </a:r>
                      <a:endParaRPr lang="en-US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3175">
                      <a:solidFill>
                        <a:schemeClr val="bg1"/>
                      </a:solidFill>
                    </a:lnB>
                    <a:solidFill>
                      <a:srgbClr val="1BA18A">
                        <a:alpha val="5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76388"/>
                  </a:ext>
                </a:extLst>
              </a:tr>
              <a:tr h="459044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Automated Map, Data &amp; Report Exporting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●</a:t>
                      </a:r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●</a:t>
                      </a:r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○</a:t>
                      </a:r>
                      <a:endParaRPr lang="en-US" sz="24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●</a:t>
                      </a:r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●</a:t>
                      </a:r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bg1"/>
                          </a:solidFill>
                          <a:latin typeface="Geist"/>
                        </a:rPr>
                        <a:t>●</a:t>
                      </a:r>
                      <a:endParaRPr lang="en-US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3175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1BA18A">
                        <a:alpha val="5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653034"/>
                  </a:ext>
                </a:extLst>
              </a:tr>
              <a:tr h="459044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Multi-Hazard Public Emergency Map</a:t>
                      </a: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○</a:t>
                      </a:r>
                      <a:endParaRPr lang="en-US" sz="24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0">
                      <a:noFill/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○</a:t>
                      </a:r>
                      <a:endParaRPr lang="en-US" sz="24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0">
                      <a:noFill/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◐</a:t>
                      </a:r>
                      <a:endParaRPr lang="en-US" sz="18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0">
                      <a:noFill/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◐</a:t>
                      </a:r>
                      <a:endParaRPr lang="en-US" sz="1800"/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28575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0">
                      <a:noFill/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tx1"/>
                          </a:solidFill>
                          <a:latin typeface="Geist"/>
                        </a:rPr>
                        <a:t>●</a:t>
                      </a:r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0">
                      <a:noFill/>
                    </a:lnB>
                    <a:solidFill>
                      <a:srgbClr val="DAE2E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chemeClr val="bg1"/>
                          </a:solidFill>
                          <a:latin typeface="Geist"/>
                        </a:rPr>
                        <a:t>●</a:t>
                      </a:r>
                      <a:endParaRPr lang="en-US" sz="2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76200">
                      <a:solidFill>
                        <a:schemeClr val="bg1"/>
                      </a:solidFill>
                    </a:lnL>
                    <a:lnR w="76200">
                      <a:solidFill>
                        <a:schemeClr val="bg1"/>
                      </a:solidFill>
                    </a:lnR>
                    <a:lnT w="76200">
                      <a:solidFill>
                        <a:schemeClr val="bg1"/>
                      </a:solidFill>
                    </a:lnT>
                    <a:lnB w="76200">
                      <a:solidFill>
                        <a:schemeClr val="bg1"/>
                      </a:solidFill>
                    </a:lnB>
                    <a:solidFill>
                      <a:srgbClr val="1BA18A">
                        <a:alpha val="5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6773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02C6545-37E3-0774-99F9-CC16D8B1D916}"/>
              </a:ext>
            </a:extLst>
          </p:cNvPr>
          <p:cNvSpPr txBox="1"/>
          <p:nvPr/>
        </p:nvSpPr>
        <p:spPr>
          <a:xfrm rot="-5400000">
            <a:off x="-399586" y="2708816"/>
            <a:ext cx="14682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49000"/>
                  </a:schemeClr>
                </a:solidFill>
              </a:rPr>
              <a:t>Operator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04432-91BB-46C4-311E-931F94AED28D}"/>
              </a:ext>
            </a:extLst>
          </p:cNvPr>
          <p:cNvSpPr txBox="1"/>
          <p:nvPr/>
        </p:nvSpPr>
        <p:spPr>
          <a:xfrm rot="-5400000">
            <a:off x="-399586" y="4260694"/>
            <a:ext cx="14682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49000"/>
                  </a:schemeClr>
                </a:solidFill>
              </a:rPr>
              <a:t>Analyst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4FC810-033A-044F-A737-5DED3E391A07}"/>
              </a:ext>
            </a:extLst>
          </p:cNvPr>
          <p:cNvSpPr txBox="1"/>
          <p:nvPr/>
        </p:nvSpPr>
        <p:spPr>
          <a:xfrm rot="-5400000">
            <a:off x="18586" y="5431571"/>
            <a:ext cx="6319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49000"/>
                  </a:schemeClr>
                </a:solidFill>
              </a:rPr>
              <a:t>Cit.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11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6016C-1B51-2416-A6EE-FB99C401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55AB6B-44C7-C77E-8A63-015DB0A9ED6C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812800" y="7493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ea typeface="+mj-lt"/>
                <a:cs typeface="+mj-lt"/>
              </a:rPr>
              <a:t>System Architecture</a:t>
            </a:r>
            <a:endParaRPr lang="en-US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06FAB261-2D96-88D0-52D2-DFB07CFFD4BC}"/>
              </a:ext>
            </a:extLst>
          </p:cNvPr>
          <p:cNvSpPr txBox="1"/>
          <p:nvPr/>
        </p:nvSpPr>
        <p:spPr>
          <a:xfrm>
            <a:off x="10737850" y="60877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F21CAD34-AF99-4C6E-BFBE-CBE17859A844}" type="slidenum">
              <a:rPr lang="en-US" sz="1400" dirty="0">
                <a:solidFill>
                  <a:srgbClr val="5C5F66"/>
                </a:solidFill>
              </a:rPr>
              <a:t>19</a:t>
            </a:fld>
            <a:endParaRPr lang="en-US" sz="1400">
              <a:solidFill>
                <a:srgbClr val="5C5F66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EA664B0-FB59-A2BB-A1EE-A8E5CA811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209" y="1445932"/>
            <a:ext cx="5812371" cy="482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29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59DCE-AF3B-11B9-52D3-CBB5BC42A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8AAD799-104B-F01C-7F40-8F7EC2C641C2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812800" y="7493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ea typeface="+mj-lt"/>
                <a:cs typeface="+mj-lt"/>
              </a:rPr>
              <a:t>Tech Stack</a:t>
            </a:r>
            <a:endParaRPr lang="pt-PT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C275B65F-6FC5-2AF3-614B-1025E29648A6}"/>
              </a:ext>
            </a:extLst>
          </p:cNvPr>
          <p:cNvSpPr txBox="1"/>
          <p:nvPr/>
        </p:nvSpPr>
        <p:spPr>
          <a:xfrm>
            <a:off x="10737850" y="608774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fld id="{F21CAD34-AF99-4C6E-BFBE-CBE17859A844}" type="slidenum">
              <a:rPr lang="en-US" sz="1400" dirty="0">
                <a:solidFill>
                  <a:srgbClr val="5C5F66"/>
                </a:solidFill>
              </a:rPr>
              <a:t>20</a:t>
            </a:fld>
            <a:endParaRPr lang="en-US" sz="1400">
              <a:solidFill>
                <a:srgbClr val="5C5F66"/>
              </a:solidFill>
            </a:endParaRPr>
          </a:p>
        </p:txBody>
      </p:sp>
      <p:pic>
        <p:nvPicPr>
          <p:cNvPr id="3" name="Imagem 2" descr="Uma imagem com texto, captura de ecrã, diagrama, Tipo de letra&#10;&#10;Os conteúdos gerados por IA poderão estar incorretos.">
            <a:extLst>
              <a:ext uri="{FF2B5EF4-FFF2-40B4-BE49-F238E27FC236}">
                <a16:creationId xmlns:a16="http://schemas.microsoft.com/office/drawing/2014/main" id="{8BB32917-D374-4760-B208-74AE62E0F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991" y="1444487"/>
            <a:ext cx="5790018" cy="486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259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12800" y="2413000"/>
            <a:ext cx="482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>
                <a:solidFill>
                  <a:srgbClr val="161616"/>
                </a:solidFill>
              </a:rPr>
              <a:t>Ad Omnia in perpetuum.</a:t>
            </a:r>
            <a:endParaRPr lang="en-US" sz="60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12800" y="41275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200">
                <a:solidFill>
                  <a:srgbClr val="5C5F66"/>
                </a:solidFill>
              </a:rPr>
              <a:t>To everything, forever.</a:t>
            </a:r>
            <a:endParaRPr lang="en-US" sz="2200"/>
          </a:p>
        </p:txBody>
      </p:sp>
      <p:pic>
        <p:nvPicPr>
          <p:cNvPr id="4" name="Picture 3" descr="Ficheiro:UA Logo e Símbolo.png – Wikipédia, a enciclopédia livre">
            <a:extLst>
              <a:ext uri="{FF2B5EF4-FFF2-40B4-BE49-F238E27FC236}">
                <a16:creationId xmlns:a16="http://schemas.microsoft.com/office/drawing/2014/main" id="{6FC52532-486D-ECBC-5478-5FC603A577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4"/>
          <a:stretch>
            <a:fillRect/>
          </a:stretch>
        </p:blipFill>
        <p:spPr>
          <a:xfrm>
            <a:off x="129737" y="6265151"/>
            <a:ext cx="1806464" cy="438150"/>
          </a:xfrm>
          <a:prstGeom prst="rect">
            <a:avLst/>
          </a:prstGeom>
        </p:spPr>
      </p:pic>
      <p:pic>
        <p:nvPicPr>
          <p:cNvPr id="5" name="Picture 4" descr="Building Resilient Communications for Distributed Systems Applications:  From Blockchain to Autonomous Vehicles and 5G V2X : vTools Events | vTools  IEEE">
            <a:extLst>
              <a:ext uri="{FF2B5EF4-FFF2-40B4-BE49-F238E27FC236}">
                <a16:creationId xmlns:a16="http://schemas.microsoft.com/office/drawing/2014/main" id="{070B3D3D-F7D8-6DF7-E181-8F42302705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164474" y="6158405"/>
            <a:ext cx="2124075" cy="704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d Omnia">
  <a:themeElements>
    <a:clrScheme name="Ad Omnia">
      <a:dk1>
        <a:srgbClr val="161616"/>
      </a:dk1>
      <a:lt1>
        <a:srgbClr val="FFFFFF"/>
      </a:lt1>
      <a:dk2>
        <a:srgbClr val="5C5F66"/>
      </a:dk2>
      <a:lt2>
        <a:srgbClr val="F4F2EC"/>
      </a:lt2>
      <a:accent1>
        <a:srgbClr val="2EC4AA"/>
      </a:accent1>
      <a:accent2>
        <a:srgbClr val="3D8BFF"/>
      </a:accent2>
      <a:accent3>
        <a:srgbClr val="A03CFF"/>
      </a:accent3>
      <a:accent4>
        <a:srgbClr val="087A68"/>
      </a:accent4>
      <a:accent5>
        <a:srgbClr val="2563D0"/>
      </a:accent5>
      <a:accent6>
        <a:srgbClr val="8B35E0"/>
      </a:accent6>
      <a:hlink>
        <a:srgbClr val="2563D0"/>
      </a:hlink>
      <a:folHlink>
        <a:srgbClr val="8B35E0"/>
      </a:folHlink>
    </a:clrScheme>
    <a:fontScheme name="Ad Omnia">
      <a:majorFont>
        <a:latin typeface="Gei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21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Ad Omnia</vt:lpstr>
      <vt:lpstr>Ad Omnia</vt:lpstr>
      <vt:lpstr>"Knowledge is Power"</vt:lpstr>
      <vt:lpstr>Requirements Gathering</vt:lpstr>
      <vt:lpstr>Personas</vt:lpstr>
      <vt:lpstr>PowerPoint Presentation</vt:lpstr>
      <vt:lpstr>PowerPoint Presentation</vt:lpstr>
      <vt:lpstr>PowerPoint Presentation</vt:lpstr>
      <vt:lpstr>Identity Guidelines:  “A Thousand No’s”</vt:lpstr>
      <vt:lpstr>User Stories – US-1</vt:lpstr>
      <vt:lpstr>User Stories – US-12</vt:lpstr>
      <vt:lpstr>User Stories – US-15</vt:lpstr>
      <vt:lpstr>Use Cases – During the Crisis</vt:lpstr>
      <vt:lpstr>Use Cases – Before and After the Crisis</vt:lpstr>
      <vt:lpstr>Functional Requirements</vt:lpstr>
      <vt:lpstr>Non-Functional Requirements</vt:lpstr>
      <vt:lpstr>Assumptions &amp; Dependencies</vt:lpstr>
      <vt:lpstr>"To create, one must first question everything."</vt:lpstr>
      <vt:lpstr>Updated State-of-Art</vt:lpstr>
      <vt:lpstr>System Architecture</vt:lpstr>
      <vt:lpstr>Tech Stack</vt:lpstr>
      <vt:lpstr>Ad Omnia in perpetuum.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 Omnia template</dc:title>
  <dc:subject>PptxGenJS Presentation</dc:subject>
  <dc:creator>Ad Omnia</dc:creator>
  <cp:revision>8</cp:revision>
  <dcterms:created xsi:type="dcterms:W3CDTF">2026-10-08T13:09:26Z</dcterms:created>
  <dcterms:modified xsi:type="dcterms:W3CDTF">2026-10-11T13:18:44Z</dcterms:modified>
</cp:coreProperties>
</file>